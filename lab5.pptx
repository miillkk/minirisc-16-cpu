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7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8.xml" ContentType="application/vnd.openxmlformats-officedocument.theme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theme/theme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3" r:id="rId3"/>
    <p:sldMasterId id="2147483687" r:id="rId4"/>
    <p:sldMasterId id="2147483700" r:id="rId5"/>
    <p:sldMasterId id="2147483713" r:id="rId6"/>
    <p:sldMasterId id="2147483726" r:id="rId7"/>
    <p:sldMasterId id="2147483739" r:id="rId8"/>
    <p:sldMasterId id="2147483752" r:id="rId9"/>
  </p:sldMasterIdLst>
  <p:sldIdLst>
    <p:sldId id="256" r:id="rId10"/>
    <p:sldId id="267" r:id="rId11"/>
    <p:sldId id="551" r:id="rId12"/>
    <p:sldId id="552" r:id="rId13"/>
    <p:sldId id="257" r:id="rId14"/>
    <p:sldId id="553" r:id="rId15"/>
    <p:sldId id="501" r:id="rId16"/>
    <p:sldId id="525" r:id="rId17"/>
    <p:sldId id="522" r:id="rId18"/>
    <p:sldId id="523" r:id="rId19"/>
    <p:sldId id="536" r:id="rId20"/>
    <p:sldId id="537" r:id="rId21"/>
    <p:sldId id="538" r:id="rId22"/>
    <p:sldId id="539" r:id="rId23"/>
    <p:sldId id="540" r:id="rId24"/>
    <p:sldId id="541" r:id="rId25"/>
    <p:sldId id="542" r:id="rId26"/>
    <p:sldId id="543" r:id="rId27"/>
    <p:sldId id="544" r:id="rId28"/>
    <p:sldId id="526" r:id="rId29"/>
    <p:sldId id="545" r:id="rId30"/>
    <p:sldId id="535" r:id="rId31"/>
    <p:sldId id="524" r:id="rId32"/>
    <p:sldId id="502" r:id="rId33"/>
    <p:sldId id="546" r:id="rId34"/>
    <p:sldId id="258" r:id="rId35"/>
    <p:sldId id="582" r:id="rId36"/>
    <p:sldId id="259" r:id="rId37"/>
    <p:sldId id="583" r:id="rId38"/>
    <p:sldId id="550" r:id="rId39"/>
    <p:sldId id="584" r:id="rId40"/>
    <p:sldId id="269" r:id="rId41"/>
    <p:sldId id="496" r:id="rId4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-63" y="-15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slide" Target="slides/slide30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slide" Target="slides/slide33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slide" Target="slides/slide31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slide" Target="slides/slide22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tableStyles" Target="tableStyles.xml"/><Relationship Id="rId20" Type="http://schemas.openxmlformats.org/officeDocument/2006/relationships/slide" Target="slides/slide11.xml"/><Relationship Id="rId41" Type="http://schemas.openxmlformats.org/officeDocument/2006/relationships/slide" Target="slides/slide3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0534B-8602-48FE-8922-9989FD196AD2}" type="datetimeFigureOut">
              <a:rPr lang="zh-CN" altLang="en-US" smtClean="0"/>
              <a:t>2022-09-08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5BC3F-9A92-4FB9-8A2D-73397271C7F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0534B-8602-48FE-8922-9989FD196AD2}" type="datetimeFigureOut">
              <a:rPr lang="zh-CN" altLang="en-US" smtClean="0"/>
              <a:t>2022-09-08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5BC3F-9A92-4FB9-8A2D-73397271C7F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0534B-8602-48FE-8922-9989FD196AD2}" type="datetimeFigureOut">
              <a:rPr lang="zh-CN" altLang="en-US" smtClean="0"/>
              <a:t>2022-09-08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5BC3F-9A92-4FB9-8A2D-73397271C7F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0534B-8602-48FE-8922-9989FD196AD2}" type="datetimeFigureOut">
              <a:rPr lang="zh-CN" altLang="en-US" smtClean="0"/>
              <a:t>2022-09-08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5BC3F-9A92-4FB9-8A2D-73397271C7F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0534B-8602-48FE-8922-9989FD196AD2}" type="datetimeFigureOut">
              <a:rPr lang="zh-CN" altLang="en-US" smtClean="0"/>
              <a:t>2022-09-08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5BC3F-9A92-4FB9-8A2D-73397271C7F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0534B-8602-48FE-8922-9989FD196AD2}" type="datetimeFigureOut">
              <a:rPr lang="zh-CN" altLang="en-US" smtClean="0"/>
              <a:t>2022-09-08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5BC3F-9A92-4FB9-8A2D-73397271C7F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0534B-8602-48FE-8922-9989FD196AD2}" type="datetimeFigureOut">
              <a:rPr lang="zh-CN" altLang="en-US" smtClean="0"/>
              <a:t>2022-09-08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5BC3F-9A92-4FB9-8A2D-73397271C7F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0534B-8602-48FE-8922-9989FD196AD2}" type="datetimeFigureOut">
              <a:rPr lang="zh-CN" altLang="en-US" smtClean="0"/>
              <a:t>2022-09-08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5BC3F-9A92-4FB9-8A2D-73397271C7F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0534B-8602-48FE-8922-9989FD196AD2}" type="datetimeFigureOut">
              <a:rPr lang="zh-CN" altLang="en-US" smtClean="0"/>
              <a:t>2022-09-08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5BC3F-9A92-4FB9-8A2D-73397271C7F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0534B-8602-48FE-8922-9989FD196AD2}" type="datetimeFigureOut">
              <a:rPr lang="zh-CN" altLang="en-US" smtClean="0"/>
              <a:t>2022-09-08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5BC3F-9A92-4FB9-8A2D-73397271C7F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0534B-8602-48FE-8922-9989FD196AD2}" type="datetimeFigureOut">
              <a:rPr lang="zh-CN" altLang="en-US" smtClean="0"/>
              <a:t>2022-09-08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5BC3F-9A92-4FB9-8A2D-73397271C7F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E852E8-3B04-41E9-BC2D-41BAEEF271DC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B615A7-2375-41C5-B68C-DE9392183F1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34D00A-3906-467D-9C22-97507C871973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CBB4FC-16B9-4509-9990-53A3BBFE313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9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B7D42A-9255-477E-97B9-A8BC2CF10485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CE9AF2-60EC-45AD-B4EC-542A4EDAA22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4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4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CEE5E2-1759-4E22-A9A3-CBE1050740AC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EA2EB4-A3C2-4D5D-A313-9AE87C65E9A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7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7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CC886A-1A32-4426-BD23-F1ED71D28379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E2BC8C-C867-4F86-AD6E-43B3D9ECA11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46223" y="200376"/>
            <a:ext cx="6641756" cy="55751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BCF670-661B-4F95-98C7-08E9808D9E23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6355C5-9F34-4F0F-B85E-DBBACC27E43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81B59E-F1B2-4C89-977F-BE3BFF4FB0E0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9F5DA6-BA3A-41B7-ACBA-86E9F59D6EA8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5391A0-3C13-4413-B6F9-E147377445AC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CFAD85-90C8-4EEC-B7BA-CF7A236B155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31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D8E713-61A1-41AD-98D0-A1E82FAA47F5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D7B93F-871B-44D8-A264-B1F7EC79E03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DBDFC5-9706-448D-BB76-8E072827D2A8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009455-BBB6-48FF-90D6-2B9A0F2D825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5" y="365125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B77E92-F51B-4751-BCFB-45293F415B39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475613-BB0A-4CA1-AAC1-3086211CBB8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5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44F16B-BCB4-4100-B4A8-880847EBC9BC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DA7134-F28B-4106-86BA-DB51637652D2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pic>
        <p:nvPicPr>
          <p:cNvPr id="2097154" name="Picture 2" descr="http://www.polyomics.gla.ac.uk/images/uni_glasgow_logo.png"/>
          <p:cNvPicPr>
            <a:picLocks noChangeAspect="1" noChangeArrowheads="1"/>
          </p:cNvPicPr>
          <p:nvPr/>
        </p:nvPicPr>
        <p:blipFill>
          <a:blip r:embed="rId2"/>
          <a:srcRect r="77982"/>
          <a:stretch>
            <a:fillRect/>
          </a:stretch>
        </p:blipFill>
        <p:spPr bwMode="auto">
          <a:xfrm>
            <a:off x="11277601" y="93877"/>
            <a:ext cx="794595" cy="60634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2097155" name="Picture 4" descr="UESTC 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312613" y="24715"/>
            <a:ext cx="964988" cy="724929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048582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583" name="日期占位符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84" name="页脚占位符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85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9D14F-CE7D-4C58-B638-761F8973EE93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8590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04859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9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9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49FFE-17BC-4FF7-BC14-1F0E773A72E6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5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8716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4871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1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1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38985-6528-42D7-A0C1-12A26B2FAC6E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8671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048672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04867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7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7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DE320-C3B2-4990-8285-1E361395BE4B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8692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48693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048694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48695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048696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97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98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E598D-2EAB-41FB-9B3C-DE3801F57B2E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8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8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F9895-DBEA-494D-88A2-2658D82B9DB2}" type="slidenum">
              <a:rPr lang="zh-CN" altLang="en-US" smtClean="0"/>
              <a:t>‹#›</a:t>
            </a:fld>
            <a:endParaRPr lang="en-US" altLang="zh-CN"/>
          </a:p>
        </p:txBody>
      </p:sp>
      <p:sp>
        <p:nvSpPr>
          <p:cNvPr id="1048690" name="标题 5"/>
          <p:cNvSpPr>
            <a:spLocks noGrp="1"/>
          </p:cNvSpPr>
          <p:nvPr>
            <p:ph type="title"/>
          </p:nvPr>
        </p:nvSpPr>
        <p:spPr>
          <a:xfrm>
            <a:off x="146222" y="200371"/>
            <a:ext cx="6641756" cy="55751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97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9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4B43C-BBA0-4796-A60B-227531CBE7CA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8682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048683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4868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8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8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1CBA1-1452-4B7C-8F8D-896C2B2E4A53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4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8705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104870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4870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0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0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4B612-1C63-4E0A-A577-07629FBFF2C6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8700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04870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0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0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3558A-7AC7-4DFB-82DF-207CD6794566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0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8721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0487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B76DA-BD83-4CDD-AD15-4FE41637D154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0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1048711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12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1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AC59E-E59F-41F0-AFB2-1CEBBB963287}" type="slidenum">
              <a:rPr lang="zh-CN" altLang="en-US" smtClean="0"/>
              <a:t>‹#›</a:t>
            </a:fld>
            <a:endParaRPr lang="en-US" altLang="zh-CN"/>
          </a:p>
        </p:txBody>
      </p:sp>
      <p:sp>
        <p:nvSpPr>
          <p:cNvPr id="1048714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标题 1"/>
          <p:cNvSpPr>
            <a:spLocks noGrp="1"/>
          </p:cNvSpPr>
          <p:nvPr>
            <p:ph type="title"/>
          </p:nvPr>
        </p:nvSpPr>
        <p:spPr>
          <a:xfrm>
            <a:off x="510118" y="125413"/>
            <a:ext cx="11076516" cy="63341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77" name="表格占位符 2"/>
          <p:cNvSpPr>
            <a:spLocks noGrp="1"/>
          </p:cNvSpPr>
          <p:nvPr>
            <p:ph type="tbl" idx="1"/>
          </p:nvPr>
        </p:nvSpPr>
        <p:spPr>
          <a:xfrm>
            <a:off x="486833" y="941388"/>
            <a:ext cx="11099800" cy="52324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1048678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79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80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F1C03C88-B501-437E-821D-77A0436578C0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40"/>
            <a:ext cx="9144000" cy="165576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5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78F089-1C1C-49C9-B3F6-F13EAF71968F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84E075-F2C4-43B1-9D84-F17E57863D7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0B4B49-8683-42DA-9153-2A5449D30A93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753A23-E971-4266-A065-FC0775585078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6"/>
            <a:ext cx="10515600" cy="2852737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89471"/>
            <a:ext cx="10515600" cy="150018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/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2AE777-8BA0-44C4-816D-43479EFAF4D4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A191A5-975B-4AF4-880A-C1E6E3CB7FD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4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4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48F627-615A-4E8C-B17C-37C2D550E191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E61FD-E209-450D-ADAB-65417007C77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7" y="1681163"/>
            <a:ext cx="5183188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7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0E9B5E-E8B0-4647-AFBE-B3A0FFA4CCBA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543FC0-609B-43F9-94A7-A4C785DC4D12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46223" y="200378"/>
            <a:ext cx="6641756" cy="55751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109665-5B82-4AF8-A410-8428692E8059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408FDC-1A31-4046-B61C-FBA4E6BFBF1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3ADAB9-AD10-4272-ABA0-77CD5D9B9AC2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25F1DE-F554-48D5-99C9-0E4E40A4E7B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33"/>
            <a:ext cx="6172200" cy="4873625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7400" indent="0">
              <a:buNone/>
              <a:defRPr sz="56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7CB836-B406-40F5-A1C5-508271B0C52B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77D93D-41EB-401B-BBC9-545225E7AE6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33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7400" indent="0">
              <a:buNone/>
              <a:defRPr sz="56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017C82-A34C-4F64-82F8-43522894725D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C6C33D-CE98-4A2E-AE21-D935381F229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82631F-2411-48A3-A99F-5A5D6A49734A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CFF52A-C15B-4055-B129-EB7F56E5126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7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6" y="365127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62819F-5F5F-4C1E-8785-E1BD489295AE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502A15-E71F-4A0D-9A75-E9EB20854B9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40"/>
            <a:ext cx="9144000" cy="1655763"/>
          </a:xfrm>
        </p:spPr>
        <p:txBody>
          <a:bodyPr/>
          <a:lstStyle>
            <a:lvl1pPr marL="0" indent="0" algn="ctr">
              <a:buNone/>
              <a:defRPr sz="1015"/>
            </a:lvl1pPr>
            <a:lvl2pPr marL="193040" indent="0" algn="ctr">
              <a:buNone/>
              <a:defRPr sz="845"/>
            </a:lvl2pPr>
            <a:lvl3pPr marL="386080" indent="0" algn="ctr">
              <a:buNone/>
              <a:defRPr sz="760"/>
            </a:lvl3pPr>
            <a:lvl4pPr marL="578485" indent="0" algn="ctr">
              <a:buNone/>
              <a:defRPr sz="675"/>
            </a:lvl4pPr>
            <a:lvl5pPr marL="771525" indent="0" algn="ctr">
              <a:buNone/>
              <a:defRPr sz="675"/>
            </a:lvl5pPr>
            <a:lvl6pPr marL="964565" indent="0" algn="ctr">
              <a:buNone/>
              <a:defRPr sz="675"/>
            </a:lvl6pPr>
            <a:lvl7pPr marL="1157605" indent="0" algn="ctr">
              <a:buNone/>
              <a:defRPr sz="675"/>
            </a:lvl7pPr>
            <a:lvl8pPr marL="1350010" indent="0" algn="ctr">
              <a:buNone/>
              <a:defRPr sz="675"/>
            </a:lvl8pPr>
            <a:lvl9pPr marL="1543050" indent="0" algn="ctr">
              <a:buNone/>
              <a:defRPr sz="675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5C40B7-DC83-4F03-A030-F15B4039779B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ABD869-D393-4024-8B71-2BF313D8987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AE95A9-B4F8-4A22-983F-CC479A963960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49BFF6-9BC0-454C-9FC1-D0B3F3AFB4F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EBCE4C-0F7E-427E-919E-14EEECC35EFB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1FAE7A-4CAF-4D42-B4DB-4C391D284F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9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DD1C34-F3CD-44C2-9E34-8A76BDEB183F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15BEEF-FA6F-4FBE-B3DB-DE7FA2A6A44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4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4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887532-A8AD-4FE4-8CF0-74B46D6F5DED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819A24-121C-4FB4-BA83-20D6AD8AB5B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7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7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9032D8-DE75-435E-8080-887DCF3C6FC2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1539A3-B78F-42B7-9E55-2E0EF7FD3372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46223" y="200376"/>
            <a:ext cx="6641756" cy="55751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339285-1543-4401-8ADD-ED31ED1B0F39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BAD477-9527-450D-9D3D-BA334FB66ED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5B7BDC-8634-406D-AB80-DC1CD00A715C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425F39-FA7B-4E79-AD1B-831C2D0BEAB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A33716-C067-4094-A6CF-F966F9A05453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1222F5-0121-4331-83BF-7CE2F69EE428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31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3EDAF9-FAE9-4378-8FE9-D9C4EC9BD480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11B774-94C8-4BB0-835B-3F03C2CDFF6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B75EF9-8E90-4BDD-AFF1-21E41850815E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E2A5C7-260E-4A48-971C-C486356704F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5" y="365125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15EC27-E4A4-4831-AE06-338AC476154C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966F83-7536-44AF-A964-A028A17BDC73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5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098D41-0C29-4F82-872B-A8F22EB00AD5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943DA1-4FE4-44E7-B290-C10215AD72A3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en-US" noProof="1"/>
          </a:p>
        </p:txBody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7ABE1D-0893-44D7-8EE9-386360BFDFEF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85EB38-D506-46F0-8814-7AD341A0CC2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853132-4A9E-4C2B-82B7-BE4C0C77E6CC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F6367F-2A20-4D1A-B465-0B346A461498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9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E36430-9B03-489B-B08A-0DB25506993F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F3A9FC-E0C6-4867-B37E-414C27D8F4B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4"/>
            <a:ext cx="5181600" cy="4351339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4"/>
            <a:ext cx="5181600" cy="4351339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971260-7B23-410D-B4F3-593E182D1646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E701D6-63CA-48A9-A0F3-A91F4E6B276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7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7" y="2505075"/>
            <a:ext cx="5183188" cy="3684588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6F5D92-3DAE-42D0-8091-B643440D4345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6DCC25-71D4-44B4-A6E2-E05F75C9A92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46223" y="200376"/>
            <a:ext cx="6641756" cy="557511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20144F-CF6F-4941-B55E-B9053950D925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6AD0B7-9EB2-4DA0-A335-42A0A334167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5C1864-3367-4F55-A32B-95FBAF289712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F1A803-6B4F-4A3D-90FC-A700B3A4259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7B461D-2110-47B9-812C-452A2ED81332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F7F739-47AA-4B50-A303-AE09D171BC9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31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8F9DA0-E053-434F-BC3C-EC6B6709D4FF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90849C-5B0A-4658-A2B9-32F3593AACD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0E0210-9EAC-47A4-80D1-95E6230B78F2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B35781-0BFE-42A1-BBE7-E0C13195390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9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5" y="365125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DE3DAD-FD0A-42C8-815A-7D9AB39BC1C4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4CF06-F841-421F-94F9-883B898F48F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5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67A532-0555-4BB0-BB83-9E1A1E37FC5F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0CDDE2-C8D1-4973-B0F9-ED85CA07670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7F1500B-C2C2-4BDA-98EF-6C65EFC300B9}" type="datetimeFigureOut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2022-09-08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5D4331E-21AB-41B9-A9FD-E0DA75EF7C63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7F1500B-C2C2-4BDA-98EF-6C65EFC300B9}" type="datetimeFigureOut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2022-09-08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5D4331E-21AB-41B9-A9FD-E0DA75EF7C63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9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7F1500B-C2C2-4BDA-98EF-6C65EFC300B9}" type="datetimeFigureOut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2022-09-08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5D4331E-21AB-41B9-A9FD-E0DA75EF7C63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4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4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7F1500B-C2C2-4BDA-98EF-6C65EFC300B9}" type="datetimeFigureOut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2022-09-08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5D4331E-21AB-41B9-A9FD-E0DA75EF7C63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7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7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7F1500B-C2C2-4BDA-98EF-6C65EFC300B9}" type="datetimeFigureOut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2022-09-08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5D4331E-21AB-41B9-A9FD-E0DA75EF7C63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46223" y="200376"/>
            <a:ext cx="6641756" cy="55751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7F1500B-C2C2-4BDA-98EF-6C65EFC300B9}" type="datetimeFigureOut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2022-09-08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5D4331E-21AB-41B9-A9FD-E0DA75EF7C63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7F1500B-C2C2-4BDA-98EF-6C65EFC300B9}" type="datetimeFigureOut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2022-09-08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5D4331E-21AB-41B9-A9FD-E0DA75EF7C63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7F1500B-C2C2-4BDA-98EF-6C65EFC300B9}" type="datetimeFigureOut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2022-09-08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5D4331E-21AB-41B9-A9FD-E0DA75EF7C63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31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7F1500B-C2C2-4BDA-98EF-6C65EFC300B9}" type="datetimeFigureOut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2022-09-08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5D4331E-21AB-41B9-A9FD-E0DA75EF7C63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7F1500B-C2C2-4BDA-98EF-6C65EFC300B9}" type="datetimeFigureOut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2022-09-08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5D4331E-21AB-41B9-A9FD-E0DA75EF7C63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5" y="365125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7F1500B-C2C2-4BDA-98EF-6C65EFC300B9}" type="datetimeFigureOut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2022-09-08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5D4331E-21AB-41B9-A9FD-E0DA75EF7C63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5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7F1500B-C2C2-4BDA-98EF-6C65EFC300B9}" type="datetimeFigureOut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2022-09-08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5D4331E-21AB-41B9-A9FD-E0DA75EF7C63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en-US" noProof="1"/>
          </a:p>
        </p:txBody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7ABE1D-0893-44D7-8EE9-386360BFDFEF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85EB38-D506-46F0-8814-7AD341A0CC2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853132-4A9E-4C2B-82B7-BE4C0C77E6CC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F6367F-2A20-4D1A-B465-0B346A461498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9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E36430-9B03-489B-B08A-0DB25506993F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F3A9FC-E0C6-4867-B37E-414C27D8F4B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4"/>
            <a:ext cx="5181600" cy="4351339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4"/>
            <a:ext cx="5181600" cy="4351339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971260-7B23-410D-B4F3-593E182D1646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E701D6-63CA-48A9-A0F3-A91F4E6B276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7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7" y="2505075"/>
            <a:ext cx="5183188" cy="3684588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6F5D92-3DAE-42D0-8091-B643440D4345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6DCC25-71D4-44B4-A6E2-E05F75C9A92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46223" y="200376"/>
            <a:ext cx="6641756" cy="557511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20144F-CF6F-4941-B55E-B9053950D925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6AD0B7-9EB2-4DA0-A335-42A0A334167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5C1864-3367-4F55-A32B-95FBAF289712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F1A803-6B4F-4A3D-90FC-A700B3A4259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7B461D-2110-47B9-812C-452A2ED81332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F7F739-47AA-4B50-A303-AE09D171BC9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31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8F9DA0-E053-434F-BC3C-EC6B6709D4FF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90849C-5B0A-4658-A2B9-32F3593AACD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0E0210-9EAC-47A4-80D1-95E6230B78F2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B35781-0BFE-42A1-BBE7-E0C13195390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9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5" y="365125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DE3DAD-FD0A-42C8-815A-7D9AB39BC1C4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4CF06-F841-421F-94F9-883B898F48F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5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67A532-0555-4BB0-BB83-9E1A1E37FC5F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0CDDE2-C8D1-4973-B0F9-ED85CA07670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en-US" noProof="1"/>
          </a:p>
        </p:txBody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DC13F1-6524-4B4B-B866-2C7C7D9A2B33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B2FB6A-B24C-4D4A-9260-E3ADBECAC6E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23202B-85AC-4C66-86BC-7EC7B3A5BE99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087381-845F-4123-AC91-A840A85D27D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9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F400CE-7489-416B-9674-B21C9C2D2F83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2A4226-55DF-4E23-9BED-2EEEFC588FE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4"/>
            <a:ext cx="5181600" cy="4351339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4"/>
            <a:ext cx="5181600" cy="4351339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ADE399-4024-4C37-A708-7E7CB40CEC83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319EE8-B4EE-46EA-907C-F3DCD1D748C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7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7" y="2505075"/>
            <a:ext cx="5183188" cy="3684588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8C36C6-0402-4E35-813B-664CC79162E9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04A37E-68FF-4378-B7D1-61D3DD8DFDA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46223" y="200376"/>
            <a:ext cx="6641756" cy="557511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6FC602-A3FC-4326-8A01-B6C3CEB71E43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858AAD-E387-4491-8CCC-BAF13500F052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DEFB69-1DCB-4C9B-8F63-AAEA10511BBB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B920B5-9FC0-436C-9AEF-963CC416591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5F6915-DC05-4585-B7A6-9523848D1345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0C7EE8-AD8F-4C2E-A3CD-1ADDFB972DC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31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52206E-B4B8-4186-9C85-67DA8960A774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9D32E1-7E5D-4047-99C2-ABC672627AC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D9F337-85A8-42EC-A765-54AFD495B369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1F07A2-0853-4216-8670-239BAB424BD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9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5" y="365125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5411E7-33D6-4828-BBFF-1B781C9696E9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3CE47F-C568-4F1A-BC29-41DE934DBBB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5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882242-53D3-4A10-B3EC-3F4F5C1A5958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8E479D-4961-4A1D-8384-4A0DA51AE3D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25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image" Target="../media/image1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image" Target="../media/image1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image" Target="../media/image1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4.xml"/><Relationship Id="rId2" Type="http://schemas.openxmlformats.org/officeDocument/2006/relationships/slideLayout" Target="../slideLayouts/slideLayout74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5" Type="http://schemas.openxmlformats.org/officeDocument/2006/relationships/slideLayout" Target="../slideLayouts/slideLayout77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82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Relationship Id="rId14" Type="http://schemas.openxmlformats.org/officeDocument/2006/relationships/image" Target="../media/image1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87.xml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2" Type="http://schemas.openxmlformats.org/officeDocument/2006/relationships/slideLayout" Target="../slideLayouts/slideLayout86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5" Type="http://schemas.openxmlformats.org/officeDocument/2006/relationships/slideLayout" Target="../slideLayouts/slideLayout89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94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14" Type="http://schemas.openxmlformats.org/officeDocument/2006/relationships/image" Target="../media/image1.png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4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99.xml"/><Relationship Id="rId7" Type="http://schemas.openxmlformats.org/officeDocument/2006/relationships/slideLayout" Target="../slideLayouts/slideLayout103.xml"/><Relationship Id="rId12" Type="http://schemas.openxmlformats.org/officeDocument/2006/relationships/slideLayout" Target="../slideLayouts/slideLayout108.xml"/><Relationship Id="rId2" Type="http://schemas.openxmlformats.org/officeDocument/2006/relationships/slideLayout" Target="../slideLayouts/slideLayout98.xml"/><Relationship Id="rId1" Type="http://schemas.openxmlformats.org/officeDocument/2006/relationships/slideLayout" Target="../slideLayouts/slideLayout97.xml"/><Relationship Id="rId6" Type="http://schemas.openxmlformats.org/officeDocument/2006/relationships/slideLayout" Target="../slideLayouts/slideLayout102.xml"/><Relationship Id="rId11" Type="http://schemas.openxmlformats.org/officeDocument/2006/relationships/slideLayout" Target="../slideLayouts/slideLayout107.xml"/><Relationship Id="rId5" Type="http://schemas.openxmlformats.org/officeDocument/2006/relationships/slideLayout" Target="../slideLayouts/slideLayout101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100.xml"/><Relationship Id="rId9" Type="http://schemas.openxmlformats.org/officeDocument/2006/relationships/slideLayout" Target="../slideLayouts/slideLayout105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A0534B-8602-48FE-8922-9989FD196AD2}" type="datetimeFigureOut">
              <a:rPr lang="zh-CN" altLang="en-US" smtClean="0"/>
              <a:t>2022-09-08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75BC3F-9A92-4FB9-8A2D-73397271C7F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4959DA1-79D5-4758-AD49-8127E572A392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9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98106DDE-1EB4-422C-8120-5A18512F2EFE}" type="slidenum">
              <a:rPr lang="zh-CN" altLang="en-US"/>
              <a:t>‹#›</a:t>
            </a:fld>
            <a:endParaRPr lang="zh-CN" altLang="en-US"/>
          </a:p>
        </p:txBody>
      </p:sp>
      <p:pic>
        <p:nvPicPr>
          <p:cNvPr id="1031" name="Picture 4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4863" y="0"/>
            <a:ext cx="1219200" cy="112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zh-C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D033E-52FD-43B9-A530-C8FCC6367D34}" type="slidenum">
              <a:rPr lang="zh-CN" altLang="zh-CN" smtClean="0"/>
              <a:t>‹#›</a:t>
            </a:fld>
            <a:endParaRPr lang="zh-CN" altLang="zh-CN"/>
          </a:p>
        </p:txBody>
      </p:sp>
      <p:pic>
        <p:nvPicPr>
          <p:cNvPr id="2097152" name="Picture 2" descr="http://www.polyomics.gla.ac.uk/images/uni_glasgow_logo.png"/>
          <p:cNvPicPr>
            <a:picLocks noChangeAspect="1" noChangeArrowheads="1"/>
          </p:cNvPicPr>
          <p:nvPr/>
        </p:nvPicPr>
        <p:blipFill>
          <a:blip r:embed="rId16"/>
          <a:srcRect r="77982"/>
          <a:stretch>
            <a:fillRect/>
          </a:stretch>
        </p:blipFill>
        <p:spPr bwMode="auto">
          <a:xfrm>
            <a:off x="11277601" y="93877"/>
            <a:ext cx="794595" cy="60634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2097153" name="Picture 4" descr="UESTC logo.jpg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10312613" y="24715"/>
            <a:ext cx="964988" cy="724929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67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E5B5C2E-28AD-4083-8797-9DD5CB042B0F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67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675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10E5C8D6-F4B0-4220-B34D-65B1A984CE98}" type="slidenum">
              <a:rPr lang="zh-CN" altLang="en-US"/>
              <a:t>‹#›</a:t>
            </a:fld>
            <a:endParaRPr lang="zh-CN" altLang="en-US"/>
          </a:p>
        </p:txBody>
      </p:sp>
      <p:pic>
        <p:nvPicPr>
          <p:cNvPr id="1031" name="Picture 4" descr="UESTC logo.jpg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4863" y="2"/>
            <a:ext cx="1219200" cy="112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2pPr>
      <a:lvl3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3pPr>
      <a:lvl4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4pPr>
      <a:lvl5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5pPr>
      <a:lvl6pPr marL="3429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6pPr>
      <a:lvl7pPr marL="6858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7pPr>
      <a:lvl8pPr marL="10287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8pPr>
      <a:lvl9pPr marL="13716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9pPr>
    </p:titleStyle>
    <p:bodyStyle>
      <a:lvl1pPr marL="128905" indent="-128905" algn="l" defTabSz="514350" rtl="0" eaLnBrk="0" fontAlgn="base" hangingPunct="0">
        <a:lnSpc>
          <a:spcPct val="90000"/>
        </a:lnSpc>
        <a:spcBef>
          <a:spcPts val="565"/>
        </a:spcBef>
        <a:spcAft>
          <a:spcPct val="0"/>
        </a:spcAft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6080" indent="-128905" algn="l" defTabSz="514350" rtl="0" eaLnBrk="0" fontAlgn="base" hangingPunct="0">
        <a:lnSpc>
          <a:spcPct val="90000"/>
        </a:lnSpc>
        <a:spcBef>
          <a:spcPts val="28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643255" indent="-128905" algn="l" defTabSz="514350" rtl="0" eaLnBrk="0" fontAlgn="base" hangingPunct="0">
        <a:lnSpc>
          <a:spcPct val="90000"/>
        </a:lnSpc>
        <a:spcBef>
          <a:spcPts val="280"/>
        </a:spcBef>
        <a:spcAft>
          <a:spcPct val="0"/>
        </a:spcAft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430" indent="-128905" algn="l" defTabSz="514350" rtl="0" eaLnBrk="0" fontAlgn="base" hangingPunct="0">
        <a:lnSpc>
          <a:spcPct val="90000"/>
        </a:lnSpc>
        <a:spcBef>
          <a:spcPts val="280"/>
        </a:spcBef>
        <a:spcAft>
          <a:spcPct val="0"/>
        </a:spcAft>
        <a:buFont typeface="Arial" panose="020B0604020202020204" pitchFamily="34" charset="0"/>
        <a:buChar char="•"/>
        <a:defRPr sz="975" kern="1200">
          <a:solidFill>
            <a:schemeClr val="tx1"/>
          </a:solidFill>
          <a:latin typeface="+mn-lt"/>
          <a:ea typeface="+mn-ea"/>
          <a:cs typeface="+mn-cs"/>
        </a:defRPr>
      </a:lvl4pPr>
      <a:lvl5pPr marL="1157605" indent="-128905" algn="l" defTabSz="514350" rtl="0" eaLnBrk="0" fontAlgn="base" hangingPunct="0">
        <a:lnSpc>
          <a:spcPct val="90000"/>
        </a:lnSpc>
        <a:spcBef>
          <a:spcPts val="280"/>
        </a:spcBef>
        <a:spcAft>
          <a:spcPct val="0"/>
        </a:spcAft>
        <a:buFont typeface="Arial" panose="020B0604020202020204" pitchFamily="34" charset="0"/>
        <a:buChar char="•"/>
        <a:defRPr sz="975" kern="1200">
          <a:solidFill>
            <a:schemeClr val="tx1"/>
          </a:solidFill>
          <a:latin typeface="+mn-lt"/>
          <a:ea typeface="+mn-ea"/>
          <a:cs typeface="+mn-cs"/>
        </a:defRPr>
      </a:lvl5pPr>
      <a:lvl6pPr marL="141478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67195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92913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18630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C45CA84-6D3B-4746-9966-1F6F5D5793A1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9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F30196D5-FC13-4412-968D-0E21B921E69D}" type="slidenum">
              <a:rPr lang="zh-CN" altLang="en-US"/>
              <a:t>‹#›</a:t>
            </a:fld>
            <a:endParaRPr lang="zh-CN" altLang="en-US"/>
          </a:p>
        </p:txBody>
      </p:sp>
      <p:pic>
        <p:nvPicPr>
          <p:cNvPr id="1031" name="Picture 4" descr="UESTC logo.jpg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4863" y="0"/>
            <a:ext cx="1219200" cy="112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9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2B961E8C-5DAB-4E67-898B-318F40D48FE8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9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094BFC7-DFF2-48BB-8011-19B501FA3BA6}" type="slidenum">
              <a:rPr lang="zh-CN" altLang="en-US"/>
              <a:t>‹#›</a:t>
            </a:fld>
            <a:endParaRPr lang="zh-CN" altLang="en-US"/>
          </a:p>
        </p:txBody>
      </p:sp>
      <p:pic>
        <p:nvPicPr>
          <p:cNvPr id="1031" name="Picture 4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4863" y="0"/>
            <a:ext cx="1219200" cy="112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7F1500B-C2C2-4BDA-98EF-6C65EFC300B9}" type="datetimeFigureOut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2022-09-08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900">
                <a:solidFill>
                  <a:srgbClr val="898989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5D4331E-21AB-41B9-A9FD-E0DA75EF7C63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031" name="Picture 4" descr="UESTC logo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964863" y="0"/>
            <a:ext cx="1219200" cy="1128713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9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2B961E8C-5DAB-4E67-898B-318F40D48FE8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9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094BFC7-DFF2-48BB-8011-19B501FA3BA6}" type="slidenum">
              <a:rPr lang="zh-CN" altLang="en-US"/>
              <a:t>‹#›</a:t>
            </a:fld>
            <a:endParaRPr lang="zh-CN" altLang="en-US"/>
          </a:p>
        </p:txBody>
      </p:sp>
      <p:pic>
        <p:nvPicPr>
          <p:cNvPr id="1031" name="Picture 4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4863" y="0"/>
            <a:ext cx="1219200" cy="112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</p:sldLayoutIdLst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9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D8CA4AA8-E810-45D1-B01A-3675D68713B8}" type="datetimeFigureOut">
              <a:rPr lang="zh-CN" altLang="en-US"/>
              <a:t>2022-09-08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9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7FF9F1A1-7D29-4643-BEA8-B97C9675E94E}" type="slidenum">
              <a:rPr lang="zh-CN" altLang="en-US"/>
              <a:t>‹#›</a:t>
            </a:fld>
            <a:endParaRPr lang="zh-CN" altLang="en-US"/>
          </a:p>
        </p:txBody>
      </p:sp>
      <p:pic>
        <p:nvPicPr>
          <p:cNvPr id="1031" name="Picture 4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4863" y="0"/>
            <a:ext cx="1219200" cy="112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</p:sldLayoutIdLst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1"/>
          <p:cNvSpPr>
            <a:spLocks noGrp="1"/>
          </p:cNvSpPr>
          <p:nvPr>
            <p:ph type="title"/>
          </p:nvPr>
        </p:nvSpPr>
        <p:spPr>
          <a:xfrm>
            <a:off x="1155700" y="1074738"/>
            <a:ext cx="9877425" cy="1325562"/>
          </a:xfrm>
        </p:spPr>
        <p:txBody>
          <a:bodyPr/>
          <a:lstStyle/>
          <a:p>
            <a:pPr algn="ctr" eaLnBrk="1" hangingPunct="1"/>
            <a:r>
              <a:rPr lang="en-US" altLang="zh-CN" sz="5400" b="1" dirty="0">
                <a:solidFill>
                  <a:srgbClr val="00B0F0"/>
                </a:solidFill>
              </a:rPr>
              <a:t>Digital Logic Design and Application</a:t>
            </a:r>
            <a:endParaRPr lang="zh-CN" altLang="en-US" sz="5400" b="1" dirty="0">
              <a:solidFill>
                <a:srgbClr val="00B0F0"/>
              </a:solidFill>
            </a:endParaRPr>
          </a:p>
        </p:txBody>
      </p:sp>
      <p:sp>
        <p:nvSpPr>
          <p:cNvPr id="2051" name="文本框 3"/>
          <p:cNvSpPr txBox="1">
            <a:spLocks noChangeArrowheads="1"/>
          </p:cNvSpPr>
          <p:nvPr/>
        </p:nvSpPr>
        <p:spPr bwMode="auto">
          <a:xfrm>
            <a:off x="4249738" y="2562225"/>
            <a:ext cx="35528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  <a:t>Lab Course 5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052" name="文本框 5"/>
          <p:cNvSpPr txBox="1">
            <a:spLocks noChangeArrowheads="1"/>
          </p:cNvSpPr>
          <p:nvPr/>
        </p:nvSpPr>
        <p:spPr bwMode="auto">
          <a:xfrm>
            <a:off x="4249738" y="4133850"/>
            <a:ext cx="501808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  <a:t>Lecturer: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053" name="文本框 6"/>
          <p:cNvSpPr txBox="1">
            <a:spLocks noChangeArrowheads="1"/>
          </p:cNvSpPr>
          <p:nvPr/>
        </p:nvSpPr>
        <p:spPr bwMode="auto">
          <a:xfrm>
            <a:off x="4348880" y="4779963"/>
            <a:ext cx="45243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  <a:t>TA: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054" name="文本框 3"/>
          <p:cNvSpPr txBox="1">
            <a:spLocks noChangeArrowheads="1"/>
          </p:cNvSpPr>
          <p:nvPr/>
        </p:nvSpPr>
        <p:spPr bwMode="auto">
          <a:xfrm>
            <a:off x="4249738" y="5427663"/>
            <a:ext cx="501808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  <a:t>Lab Room: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内容占位符 2"/>
          <p:cNvSpPr>
            <a:spLocks noGrp="1"/>
          </p:cNvSpPr>
          <p:nvPr>
            <p:ph idx="1"/>
          </p:nvPr>
        </p:nvSpPr>
        <p:spPr>
          <a:xfrm>
            <a:off x="2442856" y="1325563"/>
            <a:ext cx="9646936" cy="4622105"/>
          </a:xfrm>
        </p:spPr>
        <p:txBody>
          <a:bodyPr/>
          <a:lstStyle/>
          <a:p>
            <a:pPr marL="742950" indent="-742950" defTabSz="685800" eaLnBrk="1" hangingPunct="1">
              <a:lnSpc>
                <a:spcPct val="100000"/>
              </a:lnSpc>
              <a:spcBef>
                <a:spcPts val="750"/>
              </a:spcBef>
              <a:buFont typeface="+mj-lt"/>
              <a:buAutoNum type="arabicPeriod"/>
              <a:defRPr/>
            </a:pPr>
            <a:r>
              <a:rPr lang="en-US" altLang="zh-CN" sz="4000" dirty="0"/>
              <a:t>EDA tools ( </a:t>
            </a:r>
            <a:r>
              <a:rPr lang="en-US" altLang="zh-CN" sz="4000" dirty="0" err="1"/>
              <a:t>testbench</a:t>
            </a:r>
            <a:r>
              <a:rPr lang="en-US" altLang="zh-CN" sz="4000" dirty="0"/>
              <a:t>)</a:t>
            </a:r>
          </a:p>
          <a:p>
            <a:pPr marL="742950" indent="-742950" defTabSz="685800" eaLnBrk="1" hangingPunct="1">
              <a:lnSpc>
                <a:spcPct val="100000"/>
              </a:lnSpc>
              <a:spcBef>
                <a:spcPts val="750"/>
              </a:spcBef>
              <a:buFont typeface="+mj-lt"/>
              <a:buAutoNum type="arabicPeriod"/>
              <a:defRPr/>
            </a:pPr>
            <a:r>
              <a:rPr lang="en-US" altLang="zh-CN" sz="4000" dirty="0" err="1"/>
              <a:t>Datapath</a:t>
            </a:r>
            <a:r>
              <a:rPr lang="en-US" altLang="zh-CN" sz="4000" dirty="0"/>
              <a:t> Design</a:t>
            </a:r>
            <a:endParaRPr lang="zh-CN" altLang="zh-CN" sz="4000" dirty="0"/>
          </a:p>
          <a:p>
            <a:pPr marL="742950" indent="-742950" defTabSz="685800" eaLnBrk="1" hangingPunct="1">
              <a:lnSpc>
                <a:spcPct val="100000"/>
              </a:lnSpc>
              <a:spcBef>
                <a:spcPts val="750"/>
              </a:spcBef>
              <a:buFont typeface="+mj-lt"/>
              <a:buAutoNum type="arabicPeriod"/>
              <a:defRPr/>
            </a:pPr>
            <a:r>
              <a:rPr lang="en-US" altLang="zh-CN" sz="4000" dirty="0"/>
              <a:t>Controller Design</a:t>
            </a:r>
          </a:p>
          <a:p>
            <a:pPr marL="742950" indent="-742950" defTabSz="685800" eaLnBrk="1" hangingPunct="1">
              <a:lnSpc>
                <a:spcPct val="100000"/>
              </a:lnSpc>
              <a:spcBef>
                <a:spcPts val="750"/>
              </a:spcBef>
              <a:buFont typeface="+mj-lt"/>
              <a:buAutoNum type="arabicPeriod"/>
              <a:defRPr/>
            </a:pPr>
            <a:r>
              <a:rPr lang="en-US" altLang="zh-CN" sz="4000" dirty="0"/>
              <a:t>CPU</a:t>
            </a:r>
            <a:r>
              <a:rPr lang="zh-CN" altLang="en-US" sz="4000" dirty="0"/>
              <a:t> </a:t>
            </a:r>
            <a:r>
              <a:rPr lang="en-US" altLang="zh-CN" sz="4000" dirty="0"/>
              <a:t>Integration</a:t>
            </a:r>
          </a:p>
          <a:p>
            <a:pPr marL="557530" indent="-55753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 smtClean="0">
                <a:solidFill>
                  <a:srgbClr val="FF0000"/>
                </a:solidFill>
              </a:rPr>
              <a:t>  CPU </a:t>
            </a:r>
            <a:r>
              <a:rPr lang="en-US" altLang="zh-CN" sz="4000" dirty="0">
                <a:solidFill>
                  <a:srgbClr val="FF0000"/>
                </a:solidFill>
              </a:rPr>
              <a:t>Design Improvement</a:t>
            </a:r>
          </a:p>
          <a:p>
            <a:pPr marL="1167130" lvl="1" indent="-624205" defTabSz="685800" eaLnBrk="1" hangingPunct="1">
              <a:lnSpc>
                <a:spcPct val="100000"/>
              </a:lnSpc>
              <a:spcBef>
                <a:spcPct val="25000"/>
              </a:spcBef>
              <a:buFont typeface="Arial" panose="020B0604020202020204" pitchFamily="34" charset="0"/>
              <a:buChar char="–"/>
              <a:defRPr/>
            </a:pP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Verify the CPU on </a:t>
            </a:r>
            <a:r>
              <a:rPr lang="en-US" altLang="zh-CN" sz="2400" dirty="0" smtClean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a real FPGA </a:t>
            </a: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board;</a:t>
            </a:r>
          </a:p>
          <a:p>
            <a:pPr marL="1166813" lvl="1" indent="-623888" eaLnBrk="1" hangingPunct="1">
              <a:lnSpc>
                <a:spcPct val="100000"/>
              </a:lnSpc>
              <a:spcBef>
                <a:spcPct val="25000"/>
              </a:spcBef>
              <a:buFont typeface="Arial" charset="0"/>
              <a:buChar char="–"/>
              <a:defRPr/>
            </a:pP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Enlarge </a:t>
            </a:r>
            <a:r>
              <a:rPr lang="en-US" altLang="zh-CN" sz="2400" dirty="0" smtClean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instruction set </a:t>
            </a: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(for </a:t>
            </a:r>
            <a:r>
              <a:rPr lang="en-US" altLang="zh-CN" sz="2400" dirty="0" smtClean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example, LDR/STR) </a:t>
            </a: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and modify </a:t>
            </a:r>
            <a:r>
              <a:rPr lang="en-US" altLang="zh-CN" sz="2400" dirty="0" err="1" smtClean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datapath</a:t>
            </a:r>
            <a:r>
              <a:rPr lang="en-US" altLang="zh-CN" sz="2400" dirty="0" smtClean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&amp; controller modules based on </a:t>
            </a:r>
            <a:r>
              <a:rPr lang="en-US" altLang="zh-CN" sz="2400" dirty="0" smtClean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new </a:t>
            </a: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instruction set</a:t>
            </a:r>
          </a:p>
          <a:p>
            <a:pPr marL="1166813" lvl="1" indent="-623888" eaLnBrk="1" hangingPunct="1">
              <a:lnSpc>
                <a:spcPct val="100000"/>
              </a:lnSpc>
              <a:spcBef>
                <a:spcPct val="25000"/>
              </a:spcBef>
              <a:buFont typeface="Arial" charset="0"/>
              <a:buChar char="–"/>
              <a:defRPr/>
            </a:pP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Compose a  better </a:t>
            </a:r>
            <a:r>
              <a:rPr lang="en-US" altLang="zh-CN" sz="2400" dirty="0" err="1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testbench</a:t>
            </a: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and do verification again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zh-CN" sz="18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zh-CN" altLang="en-US" sz="18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="" xmlns:a16="http://schemas.microsoft.com/office/drawing/2014/main" id="{37909A01-8F8D-4525-9EF4-55D2F68444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325" y="0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51435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7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51435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75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2pPr>
            <a:lvl3pPr algn="l" defTabSz="51435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75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3pPr>
            <a:lvl4pPr algn="l" defTabSz="51435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75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4pPr>
            <a:lvl5pPr algn="l" defTabSz="51435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75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5pPr>
            <a:lvl6pPr marL="342900" algn="l" defTabSz="51435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75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6pPr>
            <a:lvl7pPr marL="685800" algn="l" defTabSz="51435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75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7pPr>
            <a:lvl8pPr marL="1028700" algn="l" defTabSz="51435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75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8pPr>
            <a:lvl9pPr marL="1371600" algn="l" defTabSz="51435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75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9pPr>
          </a:lstStyle>
          <a:p>
            <a:pPr eaLnBrk="1" hangingPunct="1"/>
            <a:r>
              <a:rPr lang="en-US" altLang="zh-CN" sz="5400" b="1" smtClean="0">
                <a:solidFill>
                  <a:srgbClr val="00B0F0"/>
                </a:solidFill>
              </a:rPr>
              <a:t>Content</a:t>
            </a:r>
            <a:endParaRPr lang="zh-CN" altLang="en-US" sz="5400" b="1"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 noChangeArrowheads="1"/>
          </p:cNvSpPr>
          <p:nvPr>
            <p:ph type="title"/>
          </p:nvPr>
        </p:nvSpPr>
        <p:spPr>
          <a:xfrm>
            <a:off x="690563" y="-11113"/>
            <a:ext cx="10515600" cy="1325563"/>
          </a:xfrm>
        </p:spPr>
        <p:txBody>
          <a:bodyPr/>
          <a:lstStyle/>
          <a:p>
            <a:r>
              <a:rPr lang="en-GB" altLang="en-US" sz="5400" b="1" dirty="0">
                <a:solidFill>
                  <a:srgbClr val="00B0F0"/>
                </a:solidFill>
                <a:ea typeface="等线 Light" panose="02010600030101010101" pitchFamily="2" charset="-122"/>
              </a:rPr>
              <a:t>CPU Organization</a:t>
            </a:r>
            <a:endParaRPr lang="zh-CN" altLang="en-US" sz="5400" dirty="0"/>
          </a:p>
        </p:txBody>
      </p:sp>
      <p:sp>
        <p:nvSpPr>
          <p:cNvPr id="5123" name="Oval 37"/>
          <p:cNvSpPr>
            <a:spLocks noChangeArrowheads="1"/>
          </p:cNvSpPr>
          <p:nvPr/>
        </p:nvSpPr>
        <p:spPr bwMode="auto">
          <a:xfrm>
            <a:off x="1951038" y="1943100"/>
            <a:ext cx="2200275" cy="219075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4" name="Text Box 41"/>
          <p:cNvSpPr txBox="1">
            <a:spLocks noChangeArrowheads="1"/>
          </p:cNvSpPr>
          <p:nvPr/>
        </p:nvSpPr>
        <p:spPr bwMode="auto">
          <a:xfrm>
            <a:off x="2717800" y="1898650"/>
            <a:ext cx="668338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GB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CPU</a:t>
            </a:r>
            <a:endParaRPr kumimoji="0" lang="en-GB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5" name="Line 45"/>
          <p:cNvSpPr>
            <a:spLocks noChangeShapeType="1"/>
          </p:cNvSpPr>
          <p:nvPr/>
        </p:nvSpPr>
        <p:spPr bwMode="auto">
          <a:xfrm flipV="1">
            <a:off x="2800350" y="998538"/>
            <a:ext cx="6076950" cy="1350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126" name="Line 46"/>
          <p:cNvSpPr>
            <a:spLocks noChangeShapeType="1"/>
          </p:cNvSpPr>
          <p:nvPr/>
        </p:nvSpPr>
        <p:spPr bwMode="auto">
          <a:xfrm>
            <a:off x="3116263" y="3159125"/>
            <a:ext cx="5895975" cy="44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127" name="Oval 48"/>
          <p:cNvSpPr>
            <a:spLocks noChangeArrowheads="1"/>
          </p:cNvSpPr>
          <p:nvPr/>
        </p:nvSpPr>
        <p:spPr bwMode="auto">
          <a:xfrm>
            <a:off x="2576513" y="3159125"/>
            <a:ext cx="944562" cy="900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8" name="Text Box 49"/>
          <p:cNvSpPr txBox="1">
            <a:spLocks noChangeArrowheads="1"/>
          </p:cNvSpPr>
          <p:nvPr/>
        </p:nvSpPr>
        <p:spPr bwMode="auto">
          <a:xfrm>
            <a:off x="2536825" y="3338513"/>
            <a:ext cx="1028700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Control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Unit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9" name="Oval 52"/>
          <p:cNvSpPr>
            <a:spLocks noChangeArrowheads="1"/>
          </p:cNvSpPr>
          <p:nvPr/>
        </p:nvSpPr>
        <p:spPr bwMode="auto">
          <a:xfrm>
            <a:off x="2273300" y="2349500"/>
            <a:ext cx="977900" cy="9445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30" name="Text Box 54"/>
          <p:cNvSpPr txBox="1">
            <a:spLocks noChangeArrowheads="1"/>
          </p:cNvSpPr>
          <p:nvPr/>
        </p:nvSpPr>
        <p:spPr bwMode="auto">
          <a:xfrm>
            <a:off x="2260600" y="2652713"/>
            <a:ext cx="108108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Datapath</a:t>
            </a:r>
          </a:p>
        </p:txBody>
      </p:sp>
      <p:sp>
        <p:nvSpPr>
          <p:cNvPr id="5131" name="Oval 35" descr="50%"/>
          <p:cNvSpPr>
            <a:spLocks noChangeArrowheads="1"/>
          </p:cNvSpPr>
          <p:nvPr/>
        </p:nvSpPr>
        <p:spPr bwMode="auto">
          <a:xfrm>
            <a:off x="5456238" y="3294063"/>
            <a:ext cx="3151187" cy="29210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</a:ln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32" name="Oval 40"/>
          <p:cNvSpPr>
            <a:spLocks noChangeArrowheads="1"/>
          </p:cNvSpPr>
          <p:nvPr/>
        </p:nvSpPr>
        <p:spPr bwMode="auto">
          <a:xfrm>
            <a:off x="6064250" y="3808413"/>
            <a:ext cx="1901825" cy="133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33" name="Text Box 44"/>
          <p:cNvSpPr txBox="1">
            <a:spLocks noChangeArrowheads="1"/>
          </p:cNvSpPr>
          <p:nvPr/>
        </p:nvSpPr>
        <p:spPr bwMode="auto">
          <a:xfrm>
            <a:off x="6254750" y="4211638"/>
            <a:ext cx="1665288" cy="30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GB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state_transition</a:t>
            </a:r>
          </a:p>
        </p:txBody>
      </p:sp>
      <p:sp>
        <p:nvSpPr>
          <p:cNvPr id="5134" name="Text Box 55"/>
          <p:cNvSpPr txBox="1">
            <a:spLocks noChangeArrowheads="1"/>
          </p:cNvSpPr>
          <p:nvPr/>
        </p:nvSpPr>
        <p:spPr bwMode="auto">
          <a:xfrm>
            <a:off x="6351588" y="3429000"/>
            <a:ext cx="151447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Control Unit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35" name="Oval 20" descr="50%"/>
          <p:cNvSpPr>
            <a:spLocks noChangeArrowheads="1"/>
          </p:cNvSpPr>
          <p:nvPr/>
        </p:nvSpPr>
        <p:spPr bwMode="auto">
          <a:xfrm>
            <a:off x="7953375" y="993775"/>
            <a:ext cx="2279650" cy="2205038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</a:ln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GB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36" name="Oval 21"/>
          <p:cNvSpPr>
            <a:spLocks noChangeArrowheads="1"/>
          </p:cNvSpPr>
          <p:nvPr/>
        </p:nvSpPr>
        <p:spPr bwMode="auto">
          <a:xfrm>
            <a:off x="8102600" y="1803400"/>
            <a:ext cx="990600" cy="990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37" name="Oval 23"/>
          <p:cNvSpPr>
            <a:spLocks noChangeArrowheads="1"/>
          </p:cNvSpPr>
          <p:nvPr/>
        </p:nvSpPr>
        <p:spPr bwMode="auto">
          <a:xfrm>
            <a:off x="9148763" y="1382713"/>
            <a:ext cx="898525" cy="8318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38" name="Text Box 27"/>
          <p:cNvSpPr txBox="1">
            <a:spLocks noChangeArrowheads="1"/>
          </p:cNvSpPr>
          <p:nvPr/>
        </p:nvSpPr>
        <p:spPr bwMode="auto">
          <a:xfrm>
            <a:off x="9282113" y="1603375"/>
            <a:ext cx="60166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GB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</a:t>
            </a:r>
          </a:p>
        </p:txBody>
      </p:sp>
      <p:sp>
        <p:nvSpPr>
          <p:cNvPr id="5139" name="Text Box 34"/>
          <p:cNvSpPr txBox="1">
            <a:spLocks noChangeArrowheads="1"/>
          </p:cNvSpPr>
          <p:nvPr/>
        </p:nvSpPr>
        <p:spPr bwMode="auto">
          <a:xfrm>
            <a:off x="8048625" y="2174875"/>
            <a:ext cx="11176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GB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Registers</a:t>
            </a:r>
          </a:p>
        </p:txBody>
      </p:sp>
      <p:sp>
        <p:nvSpPr>
          <p:cNvPr id="5140" name="Text Box 46"/>
          <p:cNvSpPr txBox="1">
            <a:spLocks noChangeArrowheads="1"/>
          </p:cNvSpPr>
          <p:nvPr/>
        </p:nvSpPr>
        <p:spPr bwMode="auto">
          <a:xfrm>
            <a:off x="8537575" y="1047750"/>
            <a:ext cx="1169988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Datapath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41" name="Line 45"/>
          <p:cNvSpPr>
            <a:spLocks noChangeShapeType="1"/>
          </p:cNvSpPr>
          <p:nvPr/>
        </p:nvSpPr>
        <p:spPr bwMode="auto">
          <a:xfrm>
            <a:off x="3116263" y="3159125"/>
            <a:ext cx="4095750" cy="134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142" name="Line 45"/>
          <p:cNvSpPr>
            <a:spLocks noChangeShapeType="1"/>
          </p:cNvSpPr>
          <p:nvPr/>
        </p:nvSpPr>
        <p:spPr bwMode="auto">
          <a:xfrm>
            <a:off x="2981325" y="4059238"/>
            <a:ext cx="3105150" cy="1890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143" name="Oval 21"/>
          <p:cNvSpPr>
            <a:spLocks noChangeArrowheads="1"/>
          </p:cNvSpPr>
          <p:nvPr/>
        </p:nvSpPr>
        <p:spPr bwMode="auto">
          <a:xfrm>
            <a:off x="9012238" y="2138363"/>
            <a:ext cx="990600" cy="990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44" name="Text Box 27"/>
          <p:cNvSpPr txBox="1">
            <a:spLocks noChangeArrowheads="1"/>
          </p:cNvSpPr>
          <p:nvPr/>
        </p:nvSpPr>
        <p:spPr bwMode="auto">
          <a:xfrm>
            <a:off x="9174163" y="2538413"/>
            <a:ext cx="4667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GB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PC</a:t>
            </a:r>
          </a:p>
        </p:txBody>
      </p:sp>
      <p:sp>
        <p:nvSpPr>
          <p:cNvPr id="5145" name="Oval 40"/>
          <p:cNvSpPr>
            <a:spLocks noChangeArrowheads="1"/>
          </p:cNvSpPr>
          <p:nvPr/>
        </p:nvSpPr>
        <p:spPr bwMode="auto">
          <a:xfrm>
            <a:off x="6203950" y="5081588"/>
            <a:ext cx="1574800" cy="10255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46" name="矩形 1"/>
          <p:cNvSpPr>
            <a:spLocks noChangeArrowheads="1"/>
          </p:cNvSpPr>
          <p:nvPr/>
        </p:nvSpPr>
        <p:spPr bwMode="auto">
          <a:xfrm>
            <a:off x="6700838" y="5438775"/>
            <a:ext cx="4159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GB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8"/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171" name="标题 1"/>
          <p:cNvSpPr>
            <a:spLocks noGrp="1" noChangeArrowheads="1"/>
          </p:cNvSpPr>
          <p:nvPr>
            <p:ph type="title"/>
          </p:nvPr>
        </p:nvSpPr>
        <p:spPr>
          <a:xfrm>
            <a:off x="300038" y="22225"/>
            <a:ext cx="10515600" cy="1325563"/>
          </a:xfrm>
        </p:spPr>
        <p:txBody>
          <a:bodyPr/>
          <a:lstStyle/>
          <a:p>
            <a:r>
              <a:rPr lang="en-US" altLang="zh-CN" sz="5400" b="1" dirty="0">
                <a:solidFill>
                  <a:srgbClr val="00B0F0"/>
                </a:solidFill>
              </a:rPr>
              <a:t>Top structure </a:t>
            </a:r>
            <a:r>
              <a:rPr lang="en-GB" altLang="en-US" sz="5400" b="1" dirty="0">
                <a:solidFill>
                  <a:srgbClr val="00B0F0"/>
                </a:solidFill>
                <a:ea typeface="等线 Light" panose="02010600030101010101" pitchFamily="2" charset="-122"/>
              </a:rPr>
              <a:t>of our CPU</a:t>
            </a:r>
            <a:endParaRPr lang="zh-CN" altLang="en-US" sz="5400" dirty="0"/>
          </a:p>
        </p:txBody>
      </p:sp>
      <p:grpSp>
        <p:nvGrpSpPr>
          <p:cNvPr id="7172" name="组合 8"/>
          <p:cNvGrpSpPr/>
          <p:nvPr/>
        </p:nvGrpSpPr>
        <p:grpSpPr bwMode="auto">
          <a:xfrm>
            <a:off x="2305050" y="1176605"/>
            <a:ext cx="6942138" cy="5270500"/>
            <a:chOff x="1144280" y="993775"/>
            <a:chExt cx="7149216" cy="5270500"/>
          </a:xfrm>
        </p:grpSpPr>
        <p:sp>
          <p:nvSpPr>
            <p:cNvPr id="7174" name="TextBox 6"/>
            <p:cNvSpPr txBox="1">
              <a:spLocks noChangeArrowheads="1"/>
            </p:cNvSpPr>
            <p:nvPr/>
          </p:nvSpPr>
          <p:spPr bwMode="auto">
            <a:xfrm>
              <a:off x="2100760" y="1311275"/>
              <a:ext cx="1590178" cy="4688915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 anchorCtr="1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Data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path</a:t>
              </a: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75" name="TextBox 7"/>
            <p:cNvSpPr txBox="1">
              <a:spLocks noChangeArrowheads="1"/>
            </p:cNvSpPr>
            <p:nvPr/>
          </p:nvSpPr>
          <p:spPr bwMode="auto">
            <a:xfrm>
              <a:off x="6075363" y="1266824"/>
              <a:ext cx="1555334" cy="4733365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 anchorCtr="1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Control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Unit</a:t>
              </a: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76" name="矩形 8"/>
            <p:cNvSpPr>
              <a:spLocks noChangeArrowheads="1"/>
            </p:cNvSpPr>
            <p:nvPr/>
          </p:nvSpPr>
          <p:spPr bwMode="auto">
            <a:xfrm>
              <a:off x="1144280" y="993775"/>
              <a:ext cx="7149216" cy="5270500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77" name="左箭头 36"/>
            <p:cNvSpPr>
              <a:spLocks noChangeArrowheads="1"/>
            </p:cNvSpPr>
            <p:nvPr/>
          </p:nvSpPr>
          <p:spPr bwMode="auto">
            <a:xfrm>
              <a:off x="3708400" y="1727200"/>
              <a:ext cx="2339975" cy="674688"/>
            </a:xfrm>
            <a:prstGeom prst="leftArrow">
              <a:avLst>
                <a:gd name="adj1" fmla="val 50000"/>
                <a:gd name="adj2" fmla="val 49984"/>
              </a:avLst>
            </a:prstGeom>
            <a:solidFill>
              <a:schemeClr val="bg1"/>
            </a:solidFill>
            <a:ln w="25400">
              <a:solidFill>
                <a:srgbClr val="385D8A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Regs control signals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78" name="左箭头 37"/>
            <p:cNvSpPr>
              <a:spLocks noChangeArrowheads="1"/>
            </p:cNvSpPr>
            <p:nvPr/>
          </p:nvSpPr>
          <p:spPr bwMode="auto">
            <a:xfrm>
              <a:off x="3659188" y="3006725"/>
              <a:ext cx="2384425" cy="719138"/>
            </a:xfrm>
            <a:prstGeom prst="leftArrow">
              <a:avLst>
                <a:gd name="adj1" fmla="val 50000"/>
                <a:gd name="adj2" fmla="val 49981"/>
              </a:avLst>
            </a:prstGeom>
            <a:solidFill>
              <a:schemeClr val="bg1"/>
            </a:solidFill>
            <a:ln w="25400">
              <a:solidFill>
                <a:srgbClr val="385D8A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ALU control signals</a:t>
              </a: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79" name="TextBox 52"/>
            <p:cNvSpPr txBox="1">
              <a:spLocks noChangeArrowheads="1"/>
            </p:cNvSpPr>
            <p:nvPr/>
          </p:nvSpPr>
          <p:spPr bwMode="auto">
            <a:xfrm>
              <a:off x="1168496" y="1048544"/>
              <a:ext cx="9080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CPU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80" name="矩形 2"/>
            <p:cNvSpPr>
              <a:spLocks noChangeArrowheads="1"/>
            </p:cNvSpPr>
            <p:nvPr/>
          </p:nvSpPr>
          <p:spPr bwMode="auto">
            <a:xfrm>
              <a:off x="2646363" y="1944688"/>
              <a:ext cx="868362" cy="6270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Reg group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81" name="矩形 22"/>
            <p:cNvSpPr>
              <a:spLocks noChangeArrowheads="1"/>
            </p:cNvSpPr>
            <p:nvPr/>
          </p:nvSpPr>
          <p:spPr bwMode="auto">
            <a:xfrm>
              <a:off x="2687638" y="3000375"/>
              <a:ext cx="868362" cy="4048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Alu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82" name="矩形 23"/>
            <p:cNvSpPr>
              <a:spLocks noChangeArrowheads="1"/>
            </p:cNvSpPr>
            <p:nvPr/>
          </p:nvSpPr>
          <p:spPr bwMode="auto">
            <a:xfrm>
              <a:off x="2695575" y="3685381"/>
              <a:ext cx="868362" cy="4048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PC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83" name="矩形 24"/>
            <p:cNvSpPr>
              <a:spLocks noChangeArrowheads="1"/>
            </p:cNvSpPr>
            <p:nvPr/>
          </p:nvSpPr>
          <p:spPr bwMode="auto">
            <a:xfrm>
              <a:off x="2350022" y="4370388"/>
              <a:ext cx="1337740" cy="40481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Alu_mux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84" name="矩形 25"/>
            <p:cNvSpPr>
              <a:spLocks noChangeArrowheads="1"/>
            </p:cNvSpPr>
            <p:nvPr/>
          </p:nvSpPr>
          <p:spPr bwMode="auto">
            <a:xfrm>
              <a:off x="6395319" y="1949731"/>
              <a:ext cx="868362" cy="6270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IR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85" name="矩形 26"/>
            <p:cNvSpPr>
              <a:spLocks noChangeArrowheads="1"/>
            </p:cNvSpPr>
            <p:nvPr/>
          </p:nvSpPr>
          <p:spPr bwMode="auto">
            <a:xfrm>
              <a:off x="6267241" y="3869297"/>
              <a:ext cx="1171575" cy="6270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State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transition</a:t>
              </a: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86" name="左箭头 37"/>
            <p:cNvSpPr>
              <a:spLocks noChangeArrowheads="1"/>
            </p:cNvSpPr>
            <p:nvPr/>
          </p:nvSpPr>
          <p:spPr bwMode="auto">
            <a:xfrm>
              <a:off x="3681413" y="4222750"/>
              <a:ext cx="2384425" cy="719138"/>
            </a:xfrm>
            <a:prstGeom prst="leftArrow">
              <a:avLst>
                <a:gd name="adj1" fmla="val 50000"/>
                <a:gd name="adj2" fmla="val 49981"/>
              </a:avLst>
            </a:prstGeom>
            <a:solidFill>
              <a:schemeClr val="bg1"/>
            </a:solidFill>
            <a:ln w="25400">
              <a:solidFill>
                <a:srgbClr val="385D8A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PC control signal</a:t>
              </a: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87" name="文本框 3"/>
            <p:cNvSpPr txBox="1">
              <a:spLocks noChangeArrowheads="1"/>
            </p:cNvSpPr>
            <p:nvPr/>
          </p:nvSpPr>
          <p:spPr bwMode="auto">
            <a:xfrm>
              <a:off x="4193990" y="1648386"/>
              <a:ext cx="1854199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En_group, Reg_en</a:t>
              </a: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7188" name="直接箭头连接符 5"/>
            <p:cNvCxnSpPr>
              <a:cxnSpLocks noChangeShapeType="1"/>
              <a:stCxn id="7184" idx="2"/>
              <a:endCxn id="7185" idx="0"/>
            </p:cNvCxnSpPr>
            <p:nvPr/>
          </p:nvCxnSpPr>
          <p:spPr bwMode="auto">
            <a:xfrm>
              <a:off x="6829501" y="2576793"/>
              <a:ext cx="23528" cy="129250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189" name="文本框 32"/>
            <p:cNvSpPr txBox="1">
              <a:spLocks noChangeArrowheads="1"/>
            </p:cNvSpPr>
            <p:nvPr/>
          </p:nvSpPr>
          <p:spPr bwMode="auto">
            <a:xfrm>
              <a:off x="6829499" y="3142784"/>
              <a:ext cx="858838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Opcode</a:t>
              </a: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90" name="文本框 33"/>
            <p:cNvSpPr txBox="1">
              <a:spLocks noChangeArrowheads="1"/>
            </p:cNvSpPr>
            <p:nvPr/>
          </p:nvSpPr>
          <p:spPr bwMode="auto">
            <a:xfrm>
              <a:off x="4022725" y="2919412"/>
              <a:ext cx="1855788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Alu_in_sel  Alu_in_sel</a:t>
              </a: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91" name="文本框 34"/>
            <p:cNvSpPr txBox="1">
              <a:spLocks noChangeArrowheads="1"/>
            </p:cNvSpPr>
            <p:nvPr/>
          </p:nvSpPr>
          <p:spPr bwMode="auto">
            <a:xfrm>
              <a:off x="4189413" y="4169850"/>
              <a:ext cx="1854199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En_pc  pc_ctrl</a:t>
              </a: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92" name="左箭头 37"/>
            <p:cNvSpPr>
              <a:spLocks noChangeArrowheads="1"/>
            </p:cNvSpPr>
            <p:nvPr/>
          </p:nvSpPr>
          <p:spPr bwMode="auto">
            <a:xfrm>
              <a:off x="3668713" y="5138738"/>
              <a:ext cx="2384425" cy="719137"/>
            </a:xfrm>
            <a:prstGeom prst="leftArrow">
              <a:avLst>
                <a:gd name="adj1" fmla="val 50000"/>
                <a:gd name="adj2" fmla="val 49981"/>
              </a:avLst>
            </a:prstGeom>
            <a:solidFill>
              <a:schemeClr val="bg1"/>
            </a:solidFill>
            <a:ln w="25400">
              <a:solidFill>
                <a:srgbClr val="385D8A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Other signals</a:t>
              </a: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对象 2"/>
          <p:cNvGraphicFramePr>
            <a:graphicFrameLocks noChangeAspect="1"/>
          </p:cNvGraphicFramePr>
          <p:nvPr/>
        </p:nvGraphicFramePr>
        <p:xfrm>
          <a:off x="2323419" y="967686"/>
          <a:ext cx="6790055" cy="449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4" name="Visio" r:id="rId3" imgW="3612515" imgH="2530475" progId="Visio.Drawing.15">
                  <p:embed/>
                </p:oleObj>
              </mc:Choice>
              <mc:Fallback>
                <p:oleObj name="Visio" r:id="rId3" imgW="3612515" imgH="2530475" progId="Visio.Drawing.15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3419" y="967686"/>
                        <a:ext cx="6790055" cy="449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1707671" y="2709598"/>
            <a:ext cx="20121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Provide clock signal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9106965" y="2247741"/>
            <a:ext cx="28085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Stored program instructions</a:t>
            </a:r>
            <a:endParaRPr lang="zh-CN" altLang="en-US" dirty="0"/>
          </a:p>
        </p:txBody>
      </p:sp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7840095" y="3241656"/>
          <a:ext cx="3778252" cy="306260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44563"/>
                <a:gridCol w="944563"/>
                <a:gridCol w="944563"/>
                <a:gridCol w="944563"/>
              </a:tblGrid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/>
                        <a:t>signal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/>
                        <a:t>direction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/>
                        <a:t>width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 err="1"/>
                        <a:t>fucnation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 err="1"/>
                        <a:t>clk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/>
                        <a:t>I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/>
                        <a:t>1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/>
                        <a:t>clock signal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 err="1"/>
                        <a:t>rst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/>
                        <a:t>I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/>
                        <a:t>1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/>
                        <a:t>active-low reset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 err="1"/>
                        <a:t>addr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/>
                        <a:t>I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/>
                        <a:t>16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/>
                        <a:t>address signal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 err="1"/>
                        <a:t>en_ram_in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/>
                        <a:t>I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/>
                        <a:t>1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/>
                        <a:t>active-high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/>
                        <a:t>ins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/>
                        <a:t>O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/>
                        <a:t>16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/>
                        <a:t>data signal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 err="1"/>
                        <a:t>en_ram_out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/>
                        <a:t>O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/>
                        <a:t>1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/>
                        <a:t>active-high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255250" y="3555018"/>
          <a:ext cx="3778251" cy="220428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59417"/>
                <a:gridCol w="1259417"/>
                <a:gridCol w="1259417"/>
              </a:tblGrid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/>
                        <a:t>signal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/>
                        <a:t>direction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 err="1"/>
                        <a:t>fucnation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/>
                        <a:t>clk_in1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/>
                        <a:t>I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/>
                        <a:t>input clock signal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 err="1"/>
                        <a:t>resetn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/>
                        <a:t>I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/>
                        <a:t>active-low reset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/>
                        <a:t>clk_out1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/>
                        <a:t>O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/>
                        <a:t>output clock signal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/>
                        <a:t>locked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/>
                        <a:t>O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/>
                        <a:t>output clock signal valid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</a:tr>
            </a:tbl>
          </a:graphicData>
        </a:graphic>
      </p:graphicFrame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138517" y="124819"/>
            <a:ext cx="6596194" cy="849312"/>
          </a:xfrm>
        </p:spPr>
        <p:txBody>
          <a:bodyPr vert="horz" wrap="square" lIns="91440" tIns="45720" rIns="91440" bIns="45720" anchor="ctr"/>
          <a:lstStyle/>
          <a:p>
            <a:pPr algn="ctr" eaLnBrk="1" hangingPunct="1"/>
            <a:r>
              <a:rPr lang="en-US" altLang="zh-CN" sz="5400" b="1" dirty="0">
                <a:solidFill>
                  <a:srgbClr val="00B0F0"/>
                </a:solidFill>
              </a:rPr>
              <a:t>Minimum CPU system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5327963"/>
              </p:ext>
            </p:extLst>
          </p:nvPr>
        </p:nvGraphicFramePr>
        <p:xfrm>
          <a:off x="1206873" y="465413"/>
          <a:ext cx="9520265" cy="53878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Visio" r:id="rId3" imgW="5327720" imgH="3727405" progId="Visio.DrawingConvertable.15">
                  <p:embed/>
                </p:oleObj>
              </mc:Choice>
              <mc:Fallback>
                <p:oleObj name="Visio" r:id="rId3" imgW="5327720" imgH="3727405" progId="Visio.DrawingConvertable.15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6873" y="465413"/>
                        <a:ext cx="9520265" cy="53878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6" name="标题 1"/>
          <p:cNvSpPr>
            <a:spLocks noGrp="1"/>
          </p:cNvSpPr>
          <p:nvPr>
            <p:ph type="title"/>
          </p:nvPr>
        </p:nvSpPr>
        <p:spPr>
          <a:xfrm>
            <a:off x="292870" y="276026"/>
            <a:ext cx="9629043" cy="849312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en-US" altLang="zh-CN" sz="5400" b="1" dirty="0">
                <a:solidFill>
                  <a:srgbClr val="00B0F0"/>
                </a:solidFill>
              </a:rPr>
              <a:t>ILA-Integrated logic analyzer</a:t>
            </a:r>
          </a:p>
        </p:txBody>
      </p:sp>
      <p:sp>
        <p:nvSpPr>
          <p:cNvPr id="36867" name="Rectangle 8"/>
          <p:cNvSpPr/>
          <p:nvPr/>
        </p:nvSpPr>
        <p:spPr>
          <a:xfrm rot="-5400000">
            <a:off x="9339263" y="1398588"/>
            <a:ext cx="18415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9143" y="3103891"/>
            <a:ext cx="6036174" cy="34666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/>
          <p:cNvSpPr>
            <a:spLocks noGrp="1"/>
          </p:cNvSpPr>
          <p:nvPr>
            <p:ph type="title"/>
          </p:nvPr>
        </p:nvSpPr>
        <p:spPr>
          <a:xfrm>
            <a:off x="506413" y="423863"/>
            <a:ext cx="5245100" cy="849312"/>
          </a:xfrm>
        </p:spPr>
        <p:txBody>
          <a:bodyPr vert="horz" wrap="square" lIns="91440" tIns="45720" rIns="91440" bIns="45720" anchor="ctr"/>
          <a:lstStyle/>
          <a:p>
            <a:pPr algn="ctr" eaLnBrk="1" hangingPunct="1"/>
            <a:r>
              <a:rPr lang="en-US" altLang="zh-CN" sz="5400" b="1" dirty="0">
                <a:solidFill>
                  <a:srgbClr val="00B0F0"/>
                </a:solidFill>
              </a:rPr>
              <a:t>FPGA Design Flow</a:t>
            </a:r>
          </a:p>
        </p:txBody>
      </p:sp>
      <p:sp>
        <p:nvSpPr>
          <p:cNvPr id="36867" name="Rectangle 8"/>
          <p:cNvSpPr/>
          <p:nvPr/>
        </p:nvSpPr>
        <p:spPr>
          <a:xfrm rot="-5400000">
            <a:off x="9339263" y="1398588"/>
            <a:ext cx="18415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36868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813" y="-439737"/>
            <a:ext cx="4476750" cy="7493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869" name="矩形 6"/>
          <p:cNvSpPr/>
          <p:nvPr/>
        </p:nvSpPr>
        <p:spPr>
          <a:xfrm>
            <a:off x="7181850" y="4260850"/>
            <a:ext cx="1962150" cy="1087438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2075" tIns="46038" rIns="92075" bIns="46038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>
          <a:xfrm>
            <a:off x="357188" y="1389063"/>
            <a:ext cx="2487612" cy="2544762"/>
          </a:xfrm>
        </p:spPr>
        <p:txBody>
          <a:bodyPr/>
          <a:lstStyle/>
          <a:p>
            <a:pPr algn="ctr"/>
            <a:r>
              <a:rPr lang="en-US" altLang="zh-CN" sz="4000" b="1">
                <a:solidFill>
                  <a:srgbClr val="00B0F0"/>
                </a:solidFill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</a:rPr>
              <a:t>Project</a:t>
            </a:r>
            <a:endParaRPr lang="zh-CN" altLang="en-US" sz="4000" b="1">
              <a:solidFill>
                <a:srgbClr val="00B0F0"/>
              </a:solidFill>
            </a:endParaRPr>
          </a:p>
        </p:txBody>
      </p:sp>
      <p:sp>
        <p:nvSpPr>
          <p:cNvPr id="18435" name="文本框 2"/>
          <p:cNvSpPr txBox="1">
            <a:spLocks noChangeArrowheads="1"/>
          </p:cNvSpPr>
          <p:nvPr/>
        </p:nvSpPr>
        <p:spPr bwMode="auto">
          <a:xfrm>
            <a:off x="3444875" y="1938338"/>
            <a:ext cx="7658100" cy="144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  <a:t>Follow the steps of lab1.ppt to create New Hardware Project. 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 pitchFamily="34" charset="0"/>
                <a:ea typeface="等线 Light" panose="02010600030101010101" pitchFamily="2" charset="-122"/>
                <a:cs typeface="+mn-cs"/>
              </a:rPr>
              <a:t>2. Create New </a:t>
            </a:r>
            <a:r>
              <a:rPr kumimoji="0" lang="en-US" altLang="zh-CN" sz="4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 panose="020F0302020204030204" pitchFamily="34" charset="0"/>
                <a:ea typeface="等线 Light" panose="02010600030101010101" pitchFamily="2" charset="-122"/>
                <a:cs typeface="+mn-cs"/>
              </a:rPr>
              <a:t>Source </a:t>
            </a:r>
            <a:r>
              <a:rPr kumimoji="0" lang="en-US" altLang="zh-CN" sz="4000" b="1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 pitchFamily="34" charset="0"/>
                <a:ea typeface="等线 Light" panose="02010600030101010101" pitchFamily="2" charset="-122"/>
                <a:cs typeface="+mn-cs"/>
              </a:rPr>
              <a:t>File</a:t>
            </a:r>
            <a:br>
              <a:rPr kumimoji="0" lang="en-US" altLang="zh-CN" sz="4000" b="1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 pitchFamily="34" charset="0"/>
                <a:ea typeface="等线 Light" panose="02010600030101010101" pitchFamily="2" charset="-122"/>
                <a:cs typeface="+mn-cs"/>
              </a:rPr>
            </a:br>
            <a:r>
              <a:rPr kumimoji="0" lang="en-US" altLang="zh-CN" sz="4000" b="1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 pitchFamily="34" charset="0"/>
                <a:ea typeface="等线 Light" panose="02010600030101010101" pitchFamily="2" charset="-122"/>
                <a:cs typeface="+mn-cs"/>
              </a:rPr>
              <a:t>-step1</a:t>
            </a:r>
            <a:endParaRPr kumimoji="0" lang="zh-CN" altLang="en-US" sz="4000" b="1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 pitchFamily="34" charset="0"/>
              <a:ea typeface="等线 Light" panose="02010600030101010101" pitchFamily="2" charset="-122"/>
              <a:cs typeface="+mn-cs"/>
            </a:endParaRPr>
          </a:p>
        </p:txBody>
      </p:sp>
      <p:sp>
        <p:nvSpPr>
          <p:cNvPr id="12292" name="文本框 2"/>
          <p:cNvSpPr txBox="1">
            <a:spLocks noChangeArrowheads="1"/>
          </p:cNvSpPr>
          <p:nvPr/>
        </p:nvSpPr>
        <p:spPr bwMode="auto">
          <a:xfrm>
            <a:off x="3881438" y="1216025"/>
            <a:ext cx="8310562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  <a:t>Follow the steps of lab2.ppt to add files  in the code folder </a:t>
            </a:r>
            <a:endParaRPr kumimoji="0" lang="zh-CN" altLang="en-US" sz="4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1438" y="2912724"/>
            <a:ext cx="8065605" cy="3071598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 pitchFamily="34" charset="0"/>
                <a:ea typeface="等线 Light" panose="02010600030101010101" pitchFamily="2" charset="-122"/>
                <a:cs typeface="+mn-cs"/>
              </a:rPr>
              <a:t>3. </a:t>
            </a: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ADD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 pitchFamily="34" charset="0"/>
                <a:ea typeface="等线 Light" panose="02010600030101010101" pitchFamily="2" charset="-122"/>
                <a:cs typeface="+mn-cs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4000" b="1" dirty="0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IP CORE</a:t>
            </a:r>
          </a:p>
          <a:p>
            <a:pPr lvl="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-step1-1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 pitchFamily="34" charset="0"/>
              <a:ea typeface="等线 Light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87493"/>
            <a:ext cx="2580832" cy="425660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6231944" y="2885704"/>
            <a:ext cx="1166383" cy="4156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 bwMode="auto">
          <a:xfrm>
            <a:off x="7967394" y="2885704"/>
            <a:ext cx="2498725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1. Left-click</a:t>
            </a:r>
            <a:endParaRPr kumimoji="0" lang="zh-CN" altLang="zh-CN" sz="24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047" y="920338"/>
            <a:ext cx="7026603" cy="4842782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929617" y="2315688"/>
            <a:ext cx="1166383" cy="4156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127539" y="5106389"/>
            <a:ext cx="2888305" cy="4156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 bwMode="auto">
          <a:xfrm>
            <a:off x="4808558" y="1552305"/>
            <a:ext cx="46204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1. </a:t>
            </a:r>
            <a:r>
              <a:rPr lang="en-US" altLang="zh-CN" sz="2400" b="1" kern="100" dirty="0">
                <a:solidFill>
                  <a:srgbClr val="FF0000"/>
                </a:solidFill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0" u="none" strike="noStrike" kern="1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nput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name to search IP cores</a:t>
            </a:r>
            <a:endParaRPr kumimoji="0" lang="zh-CN" altLang="zh-CN" sz="24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147623" y="5603173"/>
            <a:ext cx="2498725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kern="100" dirty="0">
                <a:solidFill>
                  <a:srgbClr val="FF0000"/>
                </a:solidFill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. Double click</a:t>
            </a:r>
            <a:endParaRPr kumimoji="0" lang="zh-CN" altLang="zh-CN" sz="24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/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 pitchFamily="34" charset="0"/>
                <a:ea typeface="等线 Light" panose="02010600030101010101" pitchFamily="2" charset="-122"/>
                <a:cs typeface="+mn-cs"/>
              </a:rPr>
              <a:t>3. </a:t>
            </a: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ADD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 pitchFamily="34" charset="0"/>
                <a:ea typeface="等线 Light" panose="02010600030101010101" pitchFamily="2" charset="-122"/>
                <a:cs typeface="+mn-cs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4000" b="1" dirty="0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IP CORE</a:t>
            </a:r>
          </a:p>
          <a:p>
            <a:pPr lvl="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-step1-2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 pitchFamily="34" charset="0"/>
              <a:ea typeface="等线 Light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723" y="843149"/>
            <a:ext cx="7984273" cy="5522026"/>
          </a:xfrm>
          <a:prstGeom prst="rect">
            <a:avLst/>
          </a:prstGeom>
        </p:spPr>
      </p:pic>
      <p:sp>
        <p:nvSpPr>
          <p:cNvPr id="4" name="标题 1"/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 pitchFamily="34" charset="0"/>
                <a:ea typeface="等线 Light" panose="02010600030101010101" pitchFamily="2" charset="-122"/>
                <a:cs typeface="+mn-cs"/>
              </a:rPr>
              <a:t>3. </a:t>
            </a: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ADD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 pitchFamily="34" charset="0"/>
                <a:ea typeface="等线 Light" panose="02010600030101010101" pitchFamily="2" charset="-122"/>
                <a:cs typeface="+mn-cs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4000" b="1" dirty="0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IP CORE</a:t>
            </a:r>
          </a:p>
          <a:p>
            <a:pPr lvl="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-step1-3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 pitchFamily="34" charset="0"/>
              <a:ea typeface="等线 Light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347361" y="1525978"/>
            <a:ext cx="522514" cy="2755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347361" y="4296453"/>
            <a:ext cx="5302333" cy="2755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 bwMode="auto">
          <a:xfrm>
            <a:off x="5954527" y="1064313"/>
            <a:ext cx="3985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1. Module’s name</a:t>
            </a:r>
            <a:endParaRPr kumimoji="0" lang="zh-CN" altLang="zh-CN" sz="24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6221721" y="4748449"/>
            <a:ext cx="2498725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kern="100" dirty="0">
                <a:solidFill>
                  <a:srgbClr val="FF0000"/>
                </a:solidFill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. Input clock</a:t>
            </a:r>
            <a:endParaRPr kumimoji="0" lang="zh-CN" altLang="zh-CN" sz="24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 pitchFamily="34" charset="0"/>
                <a:ea typeface="等线 Light" panose="02010600030101010101" pitchFamily="2" charset="-122"/>
                <a:cs typeface="+mn-cs"/>
              </a:rPr>
              <a:t>3. </a:t>
            </a: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ADD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 pitchFamily="34" charset="0"/>
                <a:ea typeface="等线 Light" panose="02010600030101010101" pitchFamily="2" charset="-122"/>
                <a:cs typeface="+mn-cs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4000" b="1" dirty="0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IP CORE</a:t>
            </a:r>
          </a:p>
          <a:p>
            <a:pPr lvl="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-step1-4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 pitchFamily="34" charset="0"/>
              <a:ea typeface="等线 Light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493" y="748146"/>
            <a:ext cx="7992586" cy="5522026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260769" y="1989117"/>
            <a:ext cx="5741719" cy="3621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7561613" y="4928258"/>
            <a:ext cx="522514" cy="2755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0046524" y="5994627"/>
            <a:ext cx="522514" cy="2755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 bwMode="auto">
          <a:xfrm>
            <a:off x="6049529" y="1258783"/>
            <a:ext cx="2498725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1. </a:t>
            </a:r>
            <a:r>
              <a:rPr lang="en-US" altLang="zh-CN" sz="2400" b="1" kern="100" dirty="0">
                <a:solidFill>
                  <a:srgbClr val="FF0000"/>
                </a:solidFill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kumimoji="0" lang="en-US" altLang="zh-CN" sz="2400" b="1" i="0" u="none" strike="noStrike" kern="1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utput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clock</a:t>
            </a:r>
            <a:endParaRPr kumimoji="0" lang="zh-CN" altLang="zh-CN" sz="24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7070807" y="5275322"/>
            <a:ext cx="2498725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kern="100" dirty="0">
                <a:solidFill>
                  <a:srgbClr val="FF0000"/>
                </a:solidFill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. </a:t>
            </a:r>
            <a:r>
              <a:rPr lang="en-US" altLang="zh-CN" sz="2400" b="1" kern="100" dirty="0">
                <a:solidFill>
                  <a:srgbClr val="FF0000"/>
                </a:solidFill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400" b="1" i="0" u="none" strike="noStrike" kern="1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ctive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-low</a:t>
            </a:r>
            <a:endParaRPr kumimoji="0" lang="zh-CN" altLang="zh-CN" sz="24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9392433" y="6252360"/>
            <a:ext cx="2498725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kern="100" dirty="0">
                <a:solidFill>
                  <a:srgbClr val="FF0000"/>
                </a:solidFill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. Click ok</a:t>
            </a:r>
            <a:endParaRPr kumimoji="0" lang="zh-CN" altLang="zh-CN" sz="24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6236" y="944089"/>
            <a:ext cx="3695151" cy="4851070"/>
          </a:xfrm>
          <a:prstGeom prst="rect">
            <a:avLst/>
          </a:prstGeom>
        </p:spPr>
      </p:pic>
      <p:sp>
        <p:nvSpPr>
          <p:cNvPr id="3" name="标题 1"/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 pitchFamily="34" charset="0"/>
                <a:ea typeface="等线 Light" panose="02010600030101010101" pitchFamily="2" charset="-122"/>
                <a:cs typeface="+mn-cs"/>
              </a:rPr>
              <a:t>3. </a:t>
            </a: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ADD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 pitchFamily="34" charset="0"/>
                <a:ea typeface="等线 Light" panose="02010600030101010101" pitchFamily="2" charset="-122"/>
                <a:cs typeface="+mn-cs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4000" b="1" dirty="0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IP CORE</a:t>
            </a:r>
          </a:p>
          <a:p>
            <a:pPr lvl="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-step1-5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 pitchFamily="34" charset="0"/>
              <a:ea typeface="等线 Light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764" y="5343894"/>
            <a:ext cx="771896" cy="2755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 bwMode="auto">
          <a:xfrm>
            <a:off x="6879297" y="5729843"/>
            <a:ext cx="35234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1. </a:t>
            </a:r>
            <a:r>
              <a:rPr lang="en-US" altLang="zh-CN" sz="2400" b="1" kern="100" dirty="0">
                <a:solidFill>
                  <a:srgbClr val="FF0000"/>
                </a:solidFill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Generate the IP core</a:t>
            </a:r>
            <a:endParaRPr kumimoji="0" lang="zh-CN" altLang="zh-CN" sz="24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8546" y="793162"/>
            <a:ext cx="7077075" cy="601027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929617" y="2315688"/>
            <a:ext cx="1166383" cy="4156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127539" y="5106389"/>
            <a:ext cx="2888305" cy="4156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 bwMode="auto">
          <a:xfrm>
            <a:off x="4808558" y="1552305"/>
            <a:ext cx="46204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1. </a:t>
            </a:r>
            <a:r>
              <a:rPr lang="en-US" altLang="zh-CN" sz="2400" b="1" kern="100" dirty="0">
                <a:solidFill>
                  <a:srgbClr val="FF0000"/>
                </a:solidFill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0" u="none" strike="noStrike" kern="1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nput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name to search IP cores</a:t>
            </a:r>
            <a:endParaRPr kumimoji="0" lang="zh-CN" altLang="zh-CN" sz="24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147623" y="5603173"/>
            <a:ext cx="2498725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kern="100" dirty="0">
                <a:solidFill>
                  <a:srgbClr val="FF0000"/>
                </a:solidFill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. Double click</a:t>
            </a:r>
            <a:endParaRPr kumimoji="0" lang="zh-CN" altLang="zh-CN" sz="24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/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 pitchFamily="34" charset="0"/>
                <a:ea typeface="等线 Light" panose="02010600030101010101" pitchFamily="2" charset="-122"/>
                <a:cs typeface="+mn-cs"/>
              </a:rPr>
              <a:t>3. </a:t>
            </a: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ADD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 pitchFamily="34" charset="0"/>
                <a:ea typeface="等线 Light" panose="02010600030101010101" pitchFamily="2" charset="-122"/>
                <a:cs typeface="+mn-cs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4000" b="1" dirty="0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IP CORE</a:t>
            </a:r>
          </a:p>
          <a:p>
            <a:pPr lvl="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-step2-1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 pitchFamily="34" charset="0"/>
              <a:ea typeface="等线 Light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97" y="545931"/>
            <a:ext cx="7326660" cy="5558317"/>
          </a:xfrm>
          <a:prstGeom prst="rect">
            <a:avLst/>
          </a:prstGeom>
        </p:spPr>
      </p:pic>
      <p:sp>
        <p:nvSpPr>
          <p:cNvPr id="4" name="标题 1"/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 pitchFamily="34" charset="0"/>
                <a:ea typeface="等线 Light" panose="02010600030101010101" pitchFamily="2" charset="-122"/>
                <a:cs typeface="+mn-cs"/>
              </a:rPr>
              <a:t>3. </a:t>
            </a: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ADD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 pitchFamily="34" charset="0"/>
                <a:ea typeface="等线 Light" panose="02010600030101010101" pitchFamily="2" charset="-122"/>
                <a:cs typeface="+mn-cs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4000" b="1" dirty="0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IP CORE</a:t>
            </a:r>
          </a:p>
          <a:p>
            <a:pPr lvl="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-step2-2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 pitchFamily="34" charset="0"/>
              <a:ea typeface="等线 Light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347361" y="1525978"/>
            <a:ext cx="522514" cy="2755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436427" y="2788285"/>
            <a:ext cx="1585356" cy="5368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 bwMode="auto">
          <a:xfrm>
            <a:off x="5954527" y="1064313"/>
            <a:ext cx="3985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1. Module’s name</a:t>
            </a:r>
            <a:endParaRPr kumimoji="0" lang="zh-CN" altLang="zh-CN" sz="24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6978194" y="3467398"/>
            <a:ext cx="29020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kern="100" dirty="0">
                <a:solidFill>
                  <a:srgbClr val="FF0000"/>
                </a:solidFill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. Input parameter</a:t>
            </a:r>
            <a:endParaRPr kumimoji="0" lang="zh-CN" altLang="zh-CN" sz="24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066" y="708916"/>
            <a:ext cx="7453545" cy="5635375"/>
          </a:xfrm>
          <a:prstGeom prst="rect">
            <a:avLst/>
          </a:prstGeom>
        </p:spPr>
      </p:pic>
      <p:sp>
        <p:nvSpPr>
          <p:cNvPr id="2" name="标题 1"/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 pitchFamily="34" charset="0"/>
                <a:ea typeface="等线 Light" panose="02010600030101010101" pitchFamily="2" charset="-122"/>
                <a:cs typeface="+mn-cs"/>
              </a:rPr>
              <a:t>3. </a:t>
            </a: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ADD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 pitchFamily="34" charset="0"/>
                <a:ea typeface="等线 Light" panose="02010600030101010101" pitchFamily="2" charset="-122"/>
                <a:cs typeface="+mn-cs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4000" b="1" dirty="0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IP CORE</a:t>
            </a:r>
          </a:p>
          <a:p>
            <a:pPr lvl="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-step2-3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 pitchFamily="34" charset="0"/>
              <a:ea typeface="等线 Light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049530" y="2476377"/>
            <a:ext cx="2233510" cy="8843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9791205" y="5976815"/>
            <a:ext cx="522514" cy="2755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 bwMode="auto">
          <a:xfrm>
            <a:off x="6134595" y="3378529"/>
            <a:ext cx="32578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1. </a:t>
            </a:r>
            <a:r>
              <a:rPr lang="en-US" altLang="zh-CN" sz="2400" b="1" kern="100" dirty="0">
                <a:solidFill>
                  <a:srgbClr val="FF0000"/>
                </a:solidFill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put parameter</a:t>
            </a:r>
            <a:endParaRPr kumimoji="0" lang="zh-CN" altLang="zh-CN" sz="24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9392433" y="6252360"/>
            <a:ext cx="2498725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2. Click ok</a:t>
            </a:r>
            <a:endParaRPr kumimoji="0" lang="zh-CN" altLang="zh-CN" sz="24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0962" y="1315091"/>
            <a:ext cx="3452117" cy="4520629"/>
          </a:xfrm>
          <a:prstGeom prst="rect">
            <a:avLst/>
          </a:prstGeom>
        </p:spPr>
      </p:pic>
      <p:sp>
        <p:nvSpPr>
          <p:cNvPr id="3" name="标题 1"/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 pitchFamily="34" charset="0"/>
                <a:ea typeface="等线 Light" panose="02010600030101010101" pitchFamily="2" charset="-122"/>
                <a:cs typeface="+mn-cs"/>
              </a:rPr>
              <a:t>3. </a:t>
            </a: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ADD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 pitchFamily="34" charset="0"/>
                <a:ea typeface="等线 Light" panose="02010600030101010101" pitchFamily="2" charset="-122"/>
                <a:cs typeface="+mn-cs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4000" b="1" dirty="0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IP CORE</a:t>
            </a:r>
          </a:p>
          <a:p>
            <a:pPr lvl="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-step2-4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 pitchFamily="34" charset="0"/>
              <a:ea typeface="等线 Light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764" y="5343894"/>
            <a:ext cx="771896" cy="2755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 bwMode="auto">
          <a:xfrm>
            <a:off x="6879297" y="5729843"/>
            <a:ext cx="35234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1. </a:t>
            </a:r>
            <a:r>
              <a:rPr lang="en-US" altLang="zh-CN" sz="2400" b="1" kern="100" dirty="0">
                <a:solidFill>
                  <a:srgbClr val="FF0000"/>
                </a:solidFill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Generate the IP core</a:t>
            </a:r>
            <a:endParaRPr kumimoji="0" lang="zh-CN" altLang="zh-CN" sz="24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 noChangeArrowheads="1"/>
          </p:cNvSpPr>
          <p:nvPr/>
        </p:nvSpPr>
        <p:spPr bwMode="auto">
          <a:xfrm>
            <a:off x="328612" y="1385888"/>
            <a:ext cx="3780249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 pitchFamily="34" charset="0"/>
                <a:ea typeface="等线 Light" panose="02010600030101010101" pitchFamily="2" charset="-122"/>
                <a:cs typeface="+mn-cs"/>
              </a:rPr>
              <a:t>. Verify 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4000" b="1" dirty="0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Design Sources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1089" y="395554"/>
            <a:ext cx="5297480" cy="496755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5. </a:t>
            </a: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Do </a:t>
            </a:r>
            <a:r>
              <a:rPr lang="en-US" altLang="zh-CN" sz="4000" b="1" dirty="0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Synthesis </a:t>
            </a: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and get the circuit </a:t>
            </a:r>
            <a:endParaRPr lang="zh-CN" altLang="en-US" sz="4000" b="1" dirty="0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5363" name="文本框 7"/>
          <p:cNvSpPr txBox="1">
            <a:spLocks noChangeArrowheads="1"/>
          </p:cNvSpPr>
          <p:nvPr/>
        </p:nvSpPr>
        <p:spPr bwMode="auto">
          <a:xfrm>
            <a:off x="3444875" y="1938338"/>
            <a:ext cx="7658100" cy="144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en-US" altLang="zh-CN" sz="4400" dirty="0"/>
              <a:t>Follow the steps of lab1.ppt to do Synthesis and get the circuit. </a:t>
            </a:r>
            <a:endParaRPr lang="zh-CN" altLang="en-US" sz="4400" dirty="0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 txBox="1">
            <a:spLocks noChangeArrowheads="1"/>
          </p:cNvSpPr>
          <p:nvPr/>
        </p:nvSpPr>
        <p:spPr bwMode="auto">
          <a:xfrm>
            <a:off x="334000" y="134938"/>
            <a:ext cx="3030545" cy="276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000" b="1" dirty="0" smtClean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6</a:t>
            </a:r>
            <a:r>
              <a:rPr kumimoji="0" lang="en-US" altLang="zh-CN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 pitchFamily="34" charset="0"/>
                <a:ea typeface="等线 Light" panose="02010600030101010101" pitchFamily="2" charset="-122"/>
                <a:cs typeface="+mn-cs"/>
              </a:rPr>
              <a:t>. 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 pitchFamily="34" charset="0"/>
                <a:ea typeface="等线 Light" panose="02010600030101010101" pitchFamily="2" charset="-122"/>
                <a:cs typeface="+mn-cs"/>
              </a:rPr>
              <a:t>Create 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 panose="020F0302020204030204" pitchFamily="34" charset="0"/>
                <a:ea typeface="等线 Light" panose="02010600030101010101" pitchFamily="2" charset="-122"/>
                <a:cs typeface="+mn-cs"/>
              </a:rPr>
              <a:t>Simulation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 pitchFamily="34" charset="0"/>
                <a:ea typeface="等线 Light" panose="02010600030101010101" pitchFamily="2" charset="-122"/>
                <a:cs typeface="+mn-cs"/>
              </a:rPr>
              <a:t> </a:t>
            </a:r>
            <a:r>
              <a:rPr kumimoji="0" lang="en-US" altLang="zh-CN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 pitchFamily="34" charset="0"/>
                <a:ea typeface="等线 Light" panose="02010600030101010101" pitchFamily="2" charset="-122"/>
                <a:cs typeface="+mn-cs"/>
              </a:rPr>
              <a:t>Source File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 pitchFamily="34" charset="0"/>
              <a:ea typeface="等线 Light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 pitchFamily="34" charset="0"/>
                <a:ea typeface="等线 Light" panose="02010600030101010101" pitchFamily="2" charset="-122"/>
                <a:cs typeface="+mn-cs"/>
              </a:rPr>
              <a:t>-step1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 pitchFamily="34" charset="0"/>
              <a:ea typeface="等线 Light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006336" y="444109"/>
            <a:ext cx="5200566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Copy  the  content in </a:t>
            </a:r>
            <a:r>
              <a:rPr kumimoji="0" lang="en-US" altLang="zh-CN" sz="2400" b="1" i="0" u="none" strike="noStrike" kern="1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system_tb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2400" b="1" kern="100" dirty="0">
                <a:solidFill>
                  <a:srgbClr val="FF0000"/>
                </a:solidFill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v</a:t>
            </a:r>
            <a:endParaRPr kumimoji="0" lang="zh-CN" altLang="zh-CN" sz="24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4800" y="1054100"/>
            <a:ext cx="4638675" cy="51625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05" y="3101975"/>
            <a:ext cx="6471285" cy="31146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标题 1"/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6. </a:t>
            </a: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Create </a:t>
            </a:r>
            <a:r>
              <a:rPr lang="en-US" altLang="zh-CN" sz="4000" b="1" dirty="0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 </a:t>
            </a: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lnSpc>
                <a:spcPct val="90000"/>
              </a:lnSpc>
            </a:pP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-step2</a:t>
            </a:r>
            <a:endParaRPr lang="zh-CN" altLang="en-US" sz="4000" b="1" dirty="0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901932" y="254104"/>
            <a:ext cx="66433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defRPr/>
            </a:pPr>
            <a:r>
              <a:rPr lang="en-US" altLang="zh-CN" sz="2400" b="1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Run the sample program or your own program</a:t>
            </a:r>
            <a:endParaRPr kumimoji="0" lang="zh-CN" altLang="zh-CN" sz="24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740" y="1250950"/>
            <a:ext cx="7729855" cy="463994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3817938" y="1177925"/>
            <a:ext cx="7231062" cy="8302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Run simulation and observe the variation of signals. Make sure all of these are  right.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180" y="2008188"/>
            <a:ext cx="9410254" cy="3346504"/>
          </a:xfrm>
          <a:prstGeom prst="rect">
            <a:avLst/>
          </a:prstGeom>
        </p:spPr>
      </p:pic>
      <p:sp>
        <p:nvSpPr>
          <p:cNvPr id="8" name="标题 1"/>
          <p:cNvSpPr txBox="1"/>
          <p:nvPr/>
        </p:nvSpPr>
        <p:spPr>
          <a:xfrm>
            <a:off x="202017" y="2008188"/>
            <a:ext cx="2443163" cy="2544762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en-US" altLang="zh-CN" sz="4000" b="1" dirty="0" smtClean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7.  </a:t>
            </a: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Do the </a:t>
            </a:r>
            <a:r>
              <a:rPr lang="en-US" altLang="zh-CN" sz="4000" b="1" dirty="0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</a:t>
            </a: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and debug. </a:t>
            </a:r>
            <a:endParaRPr lang="zh-CN" altLang="en-US" sz="4000" b="1" dirty="0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/>
          <p:cNvSpPr>
            <a:spLocks noGrp="1"/>
          </p:cNvSpPr>
          <p:nvPr>
            <p:ph type="title"/>
          </p:nvPr>
        </p:nvSpPr>
        <p:spPr>
          <a:xfrm>
            <a:off x="506413" y="423863"/>
            <a:ext cx="5245100" cy="849312"/>
          </a:xfrm>
        </p:spPr>
        <p:txBody>
          <a:bodyPr vert="horz" wrap="square" lIns="91440" tIns="45720" rIns="91440" bIns="45720" anchor="ctr"/>
          <a:lstStyle/>
          <a:p>
            <a:pPr algn="ctr" eaLnBrk="1" hangingPunct="1"/>
            <a:r>
              <a:rPr lang="en-US" altLang="zh-CN" sz="5400" b="1" dirty="0">
                <a:solidFill>
                  <a:srgbClr val="00B0F0"/>
                </a:solidFill>
              </a:rPr>
              <a:t>FPGA Design Flow</a:t>
            </a:r>
          </a:p>
        </p:txBody>
      </p:sp>
      <p:sp>
        <p:nvSpPr>
          <p:cNvPr id="49155" name="Rectangle 8"/>
          <p:cNvSpPr/>
          <p:nvPr/>
        </p:nvSpPr>
        <p:spPr>
          <a:xfrm rot="-5400000">
            <a:off x="9339263" y="1398588"/>
            <a:ext cx="18415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49156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813" y="-439737"/>
            <a:ext cx="4476750" cy="7493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9157" name="矩形 6"/>
          <p:cNvSpPr/>
          <p:nvPr/>
        </p:nvSpPr>
        <p:spPr>
          <a:xfrm>
            <a:off x="7181850" y="5684838"/>
            <a:ext cx="1962150" cy="1087437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2075" tIns="46038" rIns="92075" bIns="46038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文本框 7"/>
          <p:cNvSpPr txBox="1">
            <a:spLocks noChangeArrowheads="1"/>
          </p:cNvSpPr>
          <p:nvPr/>
        </p:nvSpPr>
        <p:spPr bwMode="auto">
          <a:xfrm>
            <a:off x="3444875" y="1938338"/>
            <a:ext cx="76581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  <a:t>Follow the steps of lab1.ppt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275174" y="1664958"/>
            <a:ext cx="2559050" cy="254317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en-US" altLang="zh-CN" sz="4000" b="1" dirty="0" smtClean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8. </a:t>
            </a: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Create </a:t>
            </a:r>
            <a:r>
              <a:rPr lang="en-US" altLang="zh-CN" sz="4000" b="1" dirty="0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Constraint </a:t>
            </a: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endParaRPr lang="zh-CN" altLang="en-US" sz="4000" b="1" dirty="0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120" y="3955415"/>
            <a:ext cx="10299065" cy="179578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542760" y="1650650"/>
            <a:ext cx="2559050" cy="291147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en-US" altLang="zh-CN" sz="4000" b="1" dirty="0" smtClean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9. </a:t>
            </a: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Generate </a:t>
            </a:r>
            <a:r>
              <a:rPr lang="en-US" altLang="zh-CN" sz="4000" b="1" dirty="0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Bitstream</a:t>
            </a:r>
          </a:p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 for FPGA</a:t>
            </a:r>
          </a:p>
        </p:txBody>
      </p:sp>
      <p:sp>
        <p:nvSpPr>
          <p:cNvPr id="3" name="文本框 7"/>
          <p:cNvSpPr txBox="1">
            <a:spLocks noChangeArrowheads="1"/>
          </p:cNvSpPr>
          <p:nvPr/>
        </p:nvSpPr>
        <p:spPr bwMode="auto">
          <a:xfrm>
            <a:off x="3991140" y="2603355"/>
            <a:ext cx="76581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  <a:t>Follow the steps of lab1.ppt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Box 10"/>
          <p:cNvSpPr txBox="1"/>
          <p:nvPr/>
        </p:nvSpPr>
        <p:spPr>
          <a:xfrm>
            <a:off x="0" y="4746625"/>
            <a:ext cx="4106863" cy="212566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endParaRPr lang="zh-CN" altLang="en-US" dirty="0">
              <a:latin typeface="Calibri" panose="020F0502020204030204" pitchFamily="34" charset="0"/>
            </a:endParaRPr>
          </a:p>
        </p:txBody>
      </p:sp>
      <p:sp>
        <p:nvSpPr>
          <p:cNvPr id="59395" name="标题 1"/>
          <p:cNvSpPr txBox="1"/>
          <p:nvPr/>
        </p:nvSpPr>
        <p:spPr>
          <a:xfrm>
            <a:off x="625475" y="1081088"/>
            <a:ext cx="2887663" cy="273685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en-US" altLang="zh-CN" sz="4000" b="1" dirty="0" smtClean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10.Connect  </a:t>
            </a: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FPGA Target Board With Computer</a:t>
            </a:r>
            <a:endParaRPr lang="zh-CN" altLang="en-US" sz="4000" b="1" dirty="0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4746625"/>
            <a:ext cx="4106863" cy="193802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1. Put all  switch(17 ) to ON</a:t>
            </a:r>
            <a:endParaRPr kumimoji="0" lang="zh-CN" altLang="zh-CN" sz="24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2.Connect J3(2) and USB port of computer with USB cable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3.Power on with switch (7)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  <a:t>4.system reset  L18(13)</a:t>
            </a:r>
          </a:p>
        </p:txBody>
      </p:sp>
      <p:pic>
        <p:nvPicPr>
          <p:cNvPr id="59397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5428" y="14605"/>
            <a:ext cx="8085137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9398" name="矩形 4"/>
          <p:cNvSpPr/>
          <p:nvPr/>
        </p:nvSpPr>
        <p:spPr>
          <a:xfrm>
            <a:off x="5421313" y="5086350"/>
            <a:ext cx="895350" cy="1771650"/>
          </a:xfrm>
          <a:prstGeom prst="rect">
            <a:avLst/>
          </a:prstGeom>
          <a:noFill/>
          <a:ln w="101600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2075" tIns="46038" rIns="92075" bIns="46038" anchor="ctr"/>
          <a:lstStyle/>
          <a:p>
            <a:pPr algn="ctr"/>
            <a:endParaRPr lang="zh-CN" altLang="en-US" sz="1600" b="1" dirty="0">
              <a:latin typeface="Calibri" panose="020F0502020204030204" pitchFamily="34" charset="0"/>
            </a:endParaRPr>
          </a:p>
        </p:txBody>
      </p:sp>
      <p:sp>
        <p:nvSpPr>
          <p:cNvPr id="59399" name="矩形 4"/>
          <p:cNvSpPr/>
          <p:nvPr/>
        </p:nvSpPr>
        <p:spPr>
          <a:xfrm>
            <a:off x="6807200" y="0"/>
            <a:ext cx="897255" cy="1510030"/>
          </a:xfrm>
          <a:prstGeom prst="rect">
            <a:avLst/>
          </a:prstGeom>
          <a:noFill/>
          <a:ln w="101600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2075" tIns="46038" rIns="92075" bIns="46038" anchor="ctr"/>
          <a:lstStyle/>
          <a:p>
            <a:pPr algn="ctr"/>
            <a:endParaRPr lang="zh-CN" altLang="en-US" sz="1600" b="1" dirty="0">
              <a:latin typeface="Calibri" panose="020F0502020204030204" pitchFamily="34" charset="0"/>
            </a:endParaRPr>
          </a:p>
        </p:txBody>
      </p:sp>
      <p:sp>
        <p:nvSpPr>
          <p:cNvPr id="59400" name="矩形 4"/>
          <p:cNvSpPr/>
          <p:nvPr/>
        </p:nvSpPr>
        <p:spPr>
          <a:xfrm>
            <a:off x="10086975" y="0"/>
            <a:ext cx="896938" cy="1204913"/>
          </a:xfrm>
          <a:prstGeom prst="rect">
            <a:avLst/>
          </a:prstGeom>
          <a:noFill/>
          <a:ln w="101600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2075" tIns="46038" rIns="92075" bIns="46038" anchor="ctr"/>
          <a:lstStyle/>
          <a:p>
            <a:pPr algn="ctr"/>
            <a:endParaRPr lang="zh-CN" altLang="en-US" sz="1600" b="1" dirty="0">
              <a:latin typeface="Calibri" panose="020F0502020204030204" pitchFamily="34" charset="0"/>
            </a:endParaRPr>
          </a:p>
        </p:txBody>
      </p:sp>
      <p:sp>
        <p:nvSpPr>
          <p:cNvPr id="2" name="矩形 4"/>
          <p:cNvSpPr/>
          <p:nvPr/>
        </p:nvSpPr>
        <p:spPr>
          <a:xfrm>
            <a:off x="10147935" y="5866130"/>
            <a:ext cx="1859280" cy="591185"/>
          </a:xfrm>
          <a:prstGeom prst="rect">
            <a:avLst/>
          </a:prstGeom>
          <a:noFill/>
          <a:ln w="101600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2075" tIns="46038" rIns="92075" bIns="46038" anchor="ctr"/>
          <a:lstStyle/>
          <a:p>
            <a:pPr algn="ctr"/>
            <a:endParaRPr lang="zh-CN" altLang="en-US" sz="1600" b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625475" y="1081087"/>
            <a:ext cx="3216193" cy="3752169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en-US" altLang="zh-CN" sz="4000" b="1" dirty="0" smtClean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11. Program Device</a:t>
            </a:r>
            <a:endParaRPr lang="zh-CN" altLang="en-US" sz="4000" b="1" dirty="0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3" name="文本框 7"/>
          <p:cNvSpPr txBox="1">
            <a:spLocks noChangeArrowheads="1"/>
          </p:cNvSpPr>
          <p:nvPr/>
        </p:nvSpPr>
        <p:spPr bwMode="auto">
          <a:xfrm>
            <a:off x="4533900" y="2413350"/>
            <a:ext cx="76581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  <a:t>Follow the steps of lab1.ppt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251401" y="1508147"/>
            <a:ext cx="2978687" cy="2695718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en-US" altLang="zh-CN" sz="4000" b="1" dirty="0" smtClean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12. </a:t>
            </a: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Run </a:t>
            </a:r>
            <a:r>
              <a:rPr lang="en-US" altLang="zh-CN" sz="4000" b="1" dirty="0" smtClean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ILA </a:t>
            </a: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to see the data in the registers</a:t>
            </a:r>
          </a:p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-step1</a:t>
            </a:r>
            <a:endParaRPr lang="zh-CN" altLang="en-US" sz="4000" b="1" dirty="0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185" y="880745"/>
            <a:ext cx="8734425" cy="509651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3230245" y="2630170"/>
            <a:ext cx="1733550" cy="1619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310726" y="1916391"/>
            <a:ext cx="209129" cy="1688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520055" y="1837690"/>
            <a:ext cx="1268095" cy="6362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386587" y="4330935"/>
            <a:ext cx="332419" cy="17294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 bwMode="auto">
          <a:xfrm>
            <a:off x="5028697" y="1282753"/>
            <a:ext cx="3985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kern="100" dirty="0">
                <a:solidFill>
                  <a:srgbClr val="FF0000"/>
                </a:solidFill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. Add signals</a:t>
            </a:r>
            <a:endParaRPr kumimoji="0" lang="zh-CN" altLang="zh-CN" sz="24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3346821" y="2806686"/>
            <a:ext cx="3985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1. Select the </a:t>
            </a:r>
            <a:r>
              <a:rPr kumimoji="0" lang="en-US" altLang="zh-CN" sz="2400" b="1" i="0" u="none" strike="noStrike" kern="1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ila</a:t>
            </a:r>
            <a:endParaRPr kumimoji="0" lang="zh-CN" altLang="zh-CN" sz="24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5520301" y="2567155"/>
            <a:ext cx="3985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kern="100" dirty="0">
                <a:solidFill>
                  <a:srgbClr val="FF0000"/>
                </a:solidFill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. Select all</a:t>
            </a:r>
            <a:endParaRPr kumimoji="0" lang="zh-CN" altLang="zh-CN" sz="24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6106867" y="4674617"/>
            <a:ext cx="3985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kern="100" dirty="0">
                <a:solidFill>
                  <a:srgbClr val="FF0000"/>
                </a:solidFill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. Click ok</a:t>
            </a:r>
            <a:endParaRPr kumimoji="0" lang="zh-CN" altLang="zh-CN" sz="24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-177859" y="1469896"/>
            <a:ext cx="2619909" cy="2695718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en-US" altLang="zh-CN" sz="3600" b="1" dirty="0" smtClean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12. </a:t>
            </a:r>
            <a:r>
              <a:rPr lang="en-US" altLang="zh-CN" sz="36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Run </a:t>
            </a:r>
            <a:r>
              <a:rPr lang="en-US" altLang="zh-CN" sz="3600" b="1" dirty="0" smtClean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ILA</a:t>
            </a:r>
            <a:r>
              <a:rPr lang="en-US" altLang="zh-CN" sz="3600" b="1" dirty="0" smtClean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</a:t>
            </a:r>
            <a:r>
              <a:rPr lang="en-US" altLang="zh-CN" sz="36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to see the data in the registers</a:t>
            </a:r>
          </a:p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en-US" altLang="zh-CN" sz="36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-step2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525" y="1136015"/>
            <a:ext cx="9587230" cy="530542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7778750" y="4030980"/>
            <a:ext cx="263525" cy="1727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679180" y="4664075"/>
            <a:ext cx="1569085" cy="1473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9596120" y="6104890"/>
            <a:ext cx="400685" cy="1308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 bwMode="auto">
          <a:xfrm>
            <a:off x="10333990" y="4419600"/>
            <a:ext cx="60833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endParaRPr kumimoji="0" lang="zh-CN" altLang="zh-CN" sz="24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7433945" y="3887470"/>
            <a:ext cx="60833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endParaRPr kumimoji="0" lang="zh-CN" altLang="zh-CN" sz="24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9388475" y="5588635"/>
            <a:ext cx="60833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endParaRPr kumimoji="0" lang="zh-CN" altLang="zh-CN" sz="24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7908290" y="3279775"/>
            <a:ext cx="435546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Add Trigger Signal </a:t>
            </a:r>
            <a:endParaRPr kumimoji="0" lang="zh-CN" altLang="zh-CN" sz="24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-54500" y="1074420"/>
            <a:ext cx="1983630" cy="398081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en-US" altLang="zh-CN" sz="3600" b="1" dirty="0" smtClean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12. </a:t>
            </a:r>
            <a:r>
              <a:rPr lang="en-US" altLang="zh-CN" sz="36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Run </a:t>
            </a:r>
            <a:r>
              <a:rPr lang="en-US" altLang="zh-CN" sz="3600" b="1" dirty="0" smtClean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ILA </a:t>
            </a:r>
            <a:r>
              <a:rPr lang="en-US" altLang="zh-CN" sz="36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to see the data in the registers</a:t>
            </a:r>
          </a:p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en-US" altLang="zh-CN" sz="3600" b="1" dirty="0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-step3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130" y="854075"/>
            <a:ext cx="10036810" cy="514921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 flipV="1">
            <a:off x="7142480" y="5055235"/>
            <a:ext cx="4302760" cy="1962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 bwMode="auto">
          <a:xfrm>
            <a:off x="7390765" y="4530725"/>
            <a:ext cx="435546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1. Set Trigger Condition </a:t>
            </a:r>
            <a:endParaRPr kumimoji="0" lang="zh-CN" altLang="zh-CN" sz="24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 flipV="1">
            <a:off x="3015615" y="1477645"/>
            <a:ext cx="307340" cy="1962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 bwMode="auto">
          <a:xfrm>
            <a:off x="3091815" y="1017270"/>
            <a:ext cx="246443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2.Start Trigger</a:t>
            </a:r>
            <a:endParaRPr kumimoji="0" lang="zh-CN" altLang="zh-CN" sz="24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3837940" y="6094730"/>
            <a:ext cx="640842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3.Press the reset button on the board !!!!!!</a:t>
            </a:r>
            <a:endParaRPr kumimoji="0" lang="zh-CN" altLang="en-US" sz="24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967663" y="6310314"/>
            <a:ext cx="2057400" cy="365125"/>
          </a:xfrm>
          <a:noFill/>
        </p:spPr>
        <p:txBody>
          <a:bodyPr/>
          <a:lstStyle>
            <a:lvl1pPr algn="just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SzPct val="60000"/>
              <a:buFont typeface="Wingdings 3" panose="05040102010807070707" pitchFamily="18" charset="2"/>
              <a:buChar char=""/>
              <a:defRPr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742950" indent="-285750" algn="just">
              <a:lnSpc>
                <a:spcPct val="120000"/>
              </a:lnSpc>
              <a:spcAft>
                <a:spcPts val="600"/>
              </a:spcAft>
              <a:buClr>
                <a:srgbClr val="A6BCBF"/>
              </a:buClr>
              <a:buFont typeface="幼圆" panose="02010509060101010101" pitchFamily="49" charset="-122"/>
              <a:buChar char=" "/>
              <a:defRPr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36695735-DAF4-41B7-B757-F4422829CDC7}" type="slidenum">
              <a:rPr lang="zh-CN" altLang="en-US" sz="1200">
                <a:solidFill>
                  <a:srgbClr val="9D9D9D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32</a:t>
            </a:fld>
            <a:endParaRPr lang="en-US" altLang="zh-CN" sz="1200">
              <a:solidFill>
                <a:srgbClr val="9D9D9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48604" name="标题 1"/>
          <p:cNvSpPr>
            <a:spLocks noGrp="1"/>
          </p:cNvSpPr>
          <p:nvPr>
            <p:ph type="title" idx="4294967295"/>
          </p:nvPr>
        </p:nvSpPr>
        <p:spPr>
          <a:xfrm>
            <a:off x="1849121" y="151765"/>
            <a:ext cx="7419975" cy="1151890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Add the instruction and simulate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048605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anchor="ctr">
            <a:spAutoFit/>
          </a:bodyPr>
          <a:lstStyle>
            <a:lvl1pPr algn="just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SzPct val="60000"/>
              <a:buFont typeface="Wingdings 3" panose="05040102010807070707" pitchFamily="18" charset="2"/>
              <a:buChar char=""/>
              <a:defRPr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742950" indent="-285750" algn="just">
              <a:lnSpc>
                <a:spcPct val="120000"/>
              </a:lnSpc>
              <a:spcAft>
                <a:spcPts val="600"/>
              </a:spcAft>
              <a:buClr>
                <a:srgbClr val="A6BCBF"/>
              </a:buClr>
              <a:buFont typeface="幼圆" panose="02010509060101010101" pitchFamily="49" charset="-122"/>
              <a:buChar char=" "/>
              <a:defRPr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 algn="l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zh-CN" altLang="en-US" sz="180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48606" name="文本框 1"/>
          <p:cNvSpPr txBox="1">
            <a:spLocks noChangeArrowheads="1"/>
          </p:cNvSpPr>
          <p:nvPr/>
        </p:nvSpPr>
        <p:spPr bwMode="auto">
          <a:xfrm>
            <a:off x="1811338" y="1481644"/>
            <a:ext cx="8569325" cy="389350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285750" indent="-285750" algn="just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SzPct val="60000"/>
              <a:buFont typeface="Wingdings 3" panose="05040102010807070707" pitchFamily="18" charset="2"/>
              <a:buChar char=""/>
              <a:defRPr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742950" indent="-285750" algn="just">
              <a:lnSpc>
                <a:spcPct val="120000"/>
              </a:lnSpc>
              <a:spcAft>
                <a:spcPts val="600"/>
              </a:spcAft>
              <a:buClr>
                <a:srgbClr val="A6BCBF"/>
              </a:buClr>
              <a:buFont typeface="幼圆" panose="02010509060101010101" pitchFamily="49" charset="-122"/>
              <a:buChar char=" "/>
              <a:defRPr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 marL="0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8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	</a:t>
            </a:r>
          </a:p>
          <a:p>
            <a:pPr marL="0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800" dirty="0">
                <a:solidFill>
                  <a:prstClr val="black"/>
                </a:solidFill>
              </a:rPr>
              <a:t>· Implement the </a:t>
            </a:r>
            <a:r>
              <a:rPr lang="en-US" altLang="zh-CN" sz="28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Instruction</a:t>
            </a:r>
          </a:p>
          <a:p>
            <a:pPr marL="685800" lvl="1" indent="-228600" algn="l" eaLnBrk="0" fontAlgn="base" hangingPunct="0">
              <a:lnSpc>
                <a:spcPct val="100000"/>
              </a:lnSpc>
              <a:spcBef>
                <a:spcPct val="0"/>
              </a:spcBef>
              <a:buClrTx/>
              <a:buFont typeface="+mj-lt"/>
              <a:buAutoNum type="arabicPeriod"/>
            </a:pPr>
            <a:r>
              <a:rPr lang="en-US" altLang="zh-CN" sz="20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add new state in </a:t>
            </a:r>
            <a:r>
              <a:rPr lang="en-US" altLang="zh-CN" sz="2000" dirty="0" err="1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state_transition</a:t>
            </a:r>
            <a:endParaRPr lang="en-US" altLang="zh-CN" sz="20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685800" lvl="1" indent="-228600" algn="l" eaLnBrk="0" fontAlgn="base" hangingPunct="0">
              <a:lnSpc>
                <a:spcPct val="100000"/>
              </a:lnSpc>
              <a:spcBef>
                <a:spcPct val="0"/>
              </a:spcBef>
              <a:buClrTx/>
              <a:buFont typeface="+mj-lt"/>
              <a:buAutoNum type="arabicPeriod"/>
            </a:pPr>
            <a:r>
              <a:rPr lang="en-US" altLang="zh-CN" sz="20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Add function in </a:t>
            </a:r>
            <a:r>
              <a:rPr lang="en-US" altLang="zh-CN" sz="2000" dirty="0" err="1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alu</a:t>
            </a:r>
            <a:r>
              <a:rPr lang="en-US" altLang="zh-CN" sz="20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	</a:t>
            </a:r>
            <a:r>
              <a:rPr lang="en-US" altLang="zh-CN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		</a:t>
            </a:r>
            <a:endParaRPr lang="en-US" altLang="zh-CN" sz="2800" dirty="0">
              <a:solidFill>
                <a:prstClr val="black"/>
              </a:solidFill>
              <a:sym typeface="+mn-ea"/>
            </a:endParaRPr>
          </a:p>
          <a:p>
            <a:pPr marL="0" indent="0" eaLnBrk="0" fontAlgn="base" hangingPunct="0">
              <a:spcAft>
                <a:spcPct val="0"/>
              </a:spcAft>
              <a:buClr>
                <a:srgbClr val="ED7D31"/>
              </a:buClr>
              <a:buNone/>
            </a:pPr>
            <a:r>
              <a:rPr lang="en-US" altLang="zh-CN" sz="2800" dirty="0">
                <a:solidFill>
                  <a:prstClr val="black"/>
                </a:solidFill>
                <a:sym typeface="+mn-ea"/>
              </a:rPr>
              <a:t>· Design your own </a:t>
            </a:r>
            <a:r>
              <a:rPr lang="en-US" altLang="zh-CN" sz="2800" dirty="0" err="1">
                <a:solidFill>
                  <a:prstClr val="black"/>
                </a:solidFill>
                <a:sym typeface="+mn-ea"/>
              </a:rPr>
              <a:t>testBench</a:t>
            </a:r>
            <a:endParaRPr lang="en-US" altLang="zh-CN" sz="2800" dirty="0">
              <a:solidFill>
                <a:prstClr val="black"/>
              </a:solidFill>
              <a:sym typeface="+mn-ea"/>
            </a:endParaRPr>
          </a:p>
          <a:p>
            <a:pPr marL="0" indent="0" eaLnBrk="0" fontAlgn="base" hangingPunct="0">
              <a:spcAft>
                <a:spcPct val="0"/>
              </a:spcAft>
              <a:buClr>
                <a:srgbClr val="ED7D31"/>
              </a:buClr>
              <a:buNone/>
            </a:pPr>
            <a:endParaRPr lang="en-US" altLang="zh-CN" sz="2800" dirty="0">
              <a:solidFill>
                <a:prstClr val="black"/>
              </a:solidFill>
              <a:sym typeface="+mn-ea"/>
            </a:endParaRPr>
          </a:p>
          <a:p>
            <a:pPr marL="0" indent="0" eaLnBrk="0" fontAlgn="base" hangingPunct="0">
              <a:spcAft>
                <a:spcPct val="0"/>
              </a:spcAft>
              <a:buClr>
                <a:srgbClr val="ED7D31"/>
              </a:buClr>
              <a:buNone/>
            </a:pPr>
            <a:r>
              <a:rPr lang="en-US" altLang="zh-CN" sz="2800" dirty="0">
                <a:solidFill>
                  <a:prstClr val="black"/>
                </a:solidFill>
                <a:sym typeface="+mn-ea"/>
              </a:rPr>
              <a:t>· Simulate that and check the results</a:t>
            </a:r>
          </a:p>
          <a:p>
            <a:pPr marL="0" indent="0" eaLnBrk="0" fontAlgn="base" hangingPunct="0">
              <a:spcAft>
                <a:spcPct val="0"/>
              </a:spcAft>
              <a:buClr>
                <a:srgbClr val="ED7D31"/>
              </a:buClr>
              <a:buNone/>
            </a:pPr>
            <a:r>
              <a:rPr lang="en-US" altLang="zh-CN" sz="2800" b="1" dirty="0">
                <a:solidFill>
                  <a:prstClr val="black"/>
                </a:solidFill>
              </a:rPr>
              <a:t>	</a:t>
            </a:r>
            <a:endParaRPr lang="en-US" altLang="zh-CN" sz="28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 noChangeArrowheads="1"/>
          </p:cNvSpPr>
          <p:nvPr>
            <p:ph type="title"/>
          </p:nvPr>
        </p:nvSpPr>
        <p:spPr>
          <a:xfrm>
            <a:off x="1155700" y="1074738"/>
            <a:ext cx="9877425" cy="1325562"/>
          </a:xfrm>
        </p:spPr>
        <p:txBody>
          <a:bodyPr/>
          <a:lstStyle/>
          <a:p>
            <a:pPr algn="ctr" eaLnBrk="1" hangingPunct="1"/>
            <a:r>
              <a:rPr lang="en-US" altLang="zh-CN" sz="5400" b="1">
                <a:solidFill>
                  <a:srgbClr val="00B0F0"/>
                </a:solidFill>
              </a:rPr>
              <a:t>Digital Logic Design and Application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18435" name="文本框 3"/>
          <p:cNvSpPr txBox="1">
            <a:spLocks noChangeArrowheads="1"/>
          </p:cNvSpPr>
          <p:nvPr/>
        </p:nvSpPr>
        <p:spPr bwMode="auto">
          <a:xfrm>
            <a:off x="4249738" y="2562225"/>
            <a:ext cx="35528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  <a:t>Lab Course 5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77" name="文本框 5"/>
          <p:cNvSpPr txBox="1">
            <a:spLocks noChangeArrowheads="1"/>
          </p:cNvSpPr>
          <p:nvPr/>
        </p:nvSpPr>
        <p:spPr bwMode="auto">
          <a:xfrm>
            <a:off x="3608388" y="3984625"/>
            <a:ext cx="49149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5400" b="1" i="1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等线 Light" panose="02010600030101010101" pitchFamily="2" charset="-122"/>
                <a:cs typeface="+mn-cs"/>
              </a:rPr>
              <a:t>~~End~~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6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_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7_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604</Words>
  <Application>Microsoft Office PowerPoint</Application>
  <PresentationFormat>自定义</PresentationFormat>
  <Paragraphs>218</Paragraphs>
  <Slides>33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9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44" baseType="lpstr">
      <vt:lpstr>Office 主题​​</vt:lpstr>
      <vt:lpstr>模板</vt:lpstr>
      <vt:lpstr>1_模板</vt:lpstr>
      <vt:lpstr>2_模板</vt:lpstr>
      <vt:lpstr>3_模板</vt:lpstr>
      <vt:lpstr>4_模板</vt:lpstr>
      <vt:lpstr>5_模板</vt:lpstr>
      <vt:lpstr>6_模板</vt:lpstr>
      <vt:lpstr>7_模板</vt:lpstr>
      <vt:lpstr>Visio</vt:lpstr>
      <vt:lpstr>Microsoft Visio 2013 Drawing</vt:lpstr>
      <vt:lpstr>Digital Logic Design and Application</vt:lpstr>
      <vt:lpstr>PowerPoint 演示文稿</vt:lpstr>
      <vt:lpstr>CPU Organization</vt:lpstr>
      <vt:lpstr>Top structure of our CPU</vt:lpstr>
      <vt:lpstr>Minimum CPU system</vt:lpstr>
      <vt:lpstr>ILA-Integrated logic analyzer</vt:lpstr>
      <vt:lpstr>FPGA Design Flow</vt:lpstr>
      <vt:lpstr>1. Create New Hardware Project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FPGA Design Flow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Add the instruction and simulate</vt:lpstr>
      <vt:lpstr>Digital Logic Design and Application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Logic Design and Application</dc:title>
  <dc:creator>zwt</dc:creator>
  <cp:lastModifiedBy>YanBo</cp:lastModifiedBy>
  <cp:revision>67</cp:revision>
  <dcterms:created xsi:type="dcterms:W3CDTF">2021-04-28T07:54:00Z</dcterms:created>
  <dcterms:modified xsi:type="dcterms:W3CDTF">2022-09-08T15:13:32Z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B52A1340632D46F89686F002DD022357</vt:lpwstr>
  </property>
  <property fmtid="{D5CDD505-2E9C-101B-9397-08002B2CF9AE}" pid="3" name="KSOProductBuildVer">
    <vt:lpwstr>2052-11.1.0.10463</vt:lpwstr>
  </property>
</Properties>
</file>