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d52a5eb0034524" /><Relationship Type="http://schemas.openxmlformats.org/officeDocument/2006/relationships/extended-properties" Target="/docProps/app.xml" Id="R0649bd9ba54b4eab" /><Relationship Type="http://schemas.openxmlformats.org/officeDocument/2006/relationships/officeDocument" Target="/ppt/presentation.xml" Id="R4751fd74f07146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f0a9a6b12a40cb"/>
  </p:sldMasterIdLst>
  <p:notesMasterIdLst>
    <p:notesMasterId xmlns:r="http://schemas.openxmlformats.org/officeDocument/2006/relationships" r:id="Rbf30d2e1dc47435e"/>
  </p:notesMasterIdLst>
  <p:sldIdLst>
    <p:sldId xmlns:r="http://schemas.openxmlformats.org/officeDocument/2006/relationships" id="256" r:id="Rae7251787e314770"/>
    <p:sldId xmlns:r="http://schemas.openxmlformats.org/officeDocument/2006/relationships" id="257" r:id="R1d732a7db58f4c2d"/>
    <p:sldId xmlns:r="http://schemas.openxmlformats.org/officeDocument/2006/relationships" id="258" r:id="R66369b8457cd45e9"/>
    <p:sldId xmlns:r="http://schemas.openxmlformats.org/officeDocument/2006/relationships" id="259" r:id="Re8af4680bd6e4315"/>
    <p:sldId xmlns:r="http://schemas.openxmlformats.org/officeDocument/2006/relationships" id="260" r:id="R147ca59b54294b0b"/>
    <p:sldId xmlns:r="http://schemas.openxmlformats.org/officeDocument/2006/relationships" id="261" r:id="R42caeb8a1b794959"/>
    <p:sldId xmlns:r="http://schemas.openxmlformats.org/officeDocument/2006/relationships" id="262" r:id="Rdd8a2f5b6ad942d6"/>
    <p:sldId xmlns:r="http://schemas.openxmlformats.org/officeDocument/2006/relationships" id="263" r:id="R5a370c2d54d242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497720d65d4d4f" /><Relationship Type="http://schemas.openxmlformats.org/officeDocument/2006/relationships/slideMaster" Target="/ppt/slideMasters/slideMaster1.xml" Id="R2cf0a9a6b12a40cb" /><Relationship Type="http://schemas.openxmlformats.org/officeDocument/2006/relationships/notesMaster" Target="/ppt/notesMasters/notesMaster1.xml" Id="Rbf30d2e1dc47435e" /><Relationship Type="http://schemas.openxmlformats.org/officeDocument/2006/relationships/presProps" Target="/ppt/presProps.xml" Id="R553777e18d434b94" /><Relationship Type="http://schemas.openxmlformats.org/officeDocument/2006/relationships/tableStyles" Target="/ppt/tableStyles.xml" Id="R6bbece41ec4b4bce" /><Relationship Type="http://schemas.openxmlformats.org/officeDocument/2006/relationships/slide" Target="/ppt/slides/slide1.xml" Id="Rae7251787e314770" /><Relationship Type="http://schemas.openxmlformats.org/officeDocument/2006/relationships/slide" Target="/ppt/slides/slide2.xml" Id="R1d732a7db58f4c2d" /><Relationship Type="http://schemas.openxmlformats.org/officeDocument/2006/relationships/slide" Target="/ppt/slides/slide3.xml" Id="R66369b8457cd45e9" /><Relationship Type="http://schemas.openxmlformats.org/officeDocument/2006/relationships/slide" Target="/ppt/slides/slide4.xml" Id="Re8af4680bd6e4315" /><Relationship Type="http://schemas.openxmlformats.org/officeDocument/2006/relationships/slide" Target="/ppt/slides/slide5.xml" Id="R147ca59b54294b0b" /><Relationship Type="http://schemas.openxmlformats.org/officeDocument/2006/relationships/slide" Target="/ppt/slides/slide6.xml" Id="R42caeb8a1b794959" /><Relationship Type="http://schemas.openxmlformats.org/officeDocument/2006/relationships/slide" Target="/ppt/slides/slide7.xml" Id="Rdd8a2f5b6ad942d6" /><Relationship Type="http://schemas.openxmlformats.org/officeDocument/2006/relationships/slide" Target="/ppt/slides/slide8.xml" Id="R5a370c2d54d242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a61e74f2dc43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niRISC Technical Dark">
      <a:dk1>
        <a:srgbClr val="020617"/>
      </a:dk1>
      <a:lt1>
        <a:srgbClr val="FFFFFF"/>
      </a:lt1>
      <a:dk2>
        <a:srgbClr val="0F172A"/>
      </a:dk2>
      <a:lt2>
        <a:srgbClr val="DBEAFE"/>
      </a:lt2>
      <a:accent1>
        <a:srgbClr val="4CC9F0"/>
      </a:accent1>
      <a:accent2>
        <a:srgbClr val="80ED99"/>
      </a:accent2>
      <a:accent3>
        <a:srgbClr val="F6C85F"/>
      </a:accent3>
      <a:accent4>
        <a:srgbClr val="FF6B6B"/>
      </a:accent4>
      <a:accent5>
        <a:srgbClr val="9B5DE5"/>
      </a:accent5>
      <a:accent6>
        <a:srgbClr val="00F5D4"/>
      </a:accent6>
      <a:hlink>
        <a:srgbClr val="4CC9F0"/>
      </a:hlink>
      <a:folHlink>
        <a:srgbClr val="C084F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niRISC Technical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ef78d07dd94ff4" /><Relationship Type="http://schemas.openxmlformats.org/officeDocument/2006/relationships/notesMaster" Target="/ppt/notesMasters/notesMaster1.xml" Id="Rc1193a89a19641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790c31d1394ce4" /><Relationship Type="http://schemas.openxmlformats.org/officeDocument/2006/relationships/notesMaster" Target="/ppt/notesMasters/notesMaster1.xml" Id="R797045b96d8d46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31824960ec4f06" /><Relationship Type="http://schemas.openxmlformats.org/officeDocument/2006/relationships/notesMaster" Target="/ppt/notesMasters/notesMaster1.xml" Id="Re98f78681f8248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13bca9f98346c2" /><Relationship Type="http://schemas.openxmlformats.org/officeDocument/2006/relationships/notesMaster" Target="/ppt/notesMasters/notesMaster1.xml" Id="R83f74f46721e41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e1e12179c54390" /><Relationship Type="http://schemas.openxmlformats.org/officeDocument/2006/relationships/notesMaster" Target="/ppt/notesMasters/notesMaster1.xml" Id="R852ade13223b40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58361800eb4af4" /><Relationship Type="http://schemas.openxmlformats.org/officeDocument/2006/relationships/notesMaster" Target="/ppt/notesMasters/notesMaster1.xml" Id="Rdc7d304c803c47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17b3629f91407d" /><Relationship Type="http://schemas.openxmlformats.org/officeDocument/2006/relationships/notesMaster" Target="/ppt/notesMasters/notesMaster1.xml" Id="R20c10b76c53049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26b7132ecf4483" /><Relationship Type="http://schemas.openxmlformats.org/officeDocument/2006/relationships/notesMaster" Target="/ppt/notesMasters/notesMaster1.xml" Id="R2d626c61f77348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这一页先说明项目主题。本设计不是 Zynq PS 里的 ARM，而是在 Zynq-7020 的 PL 可编程逻辑中实现一个自定义 MiniRISC-16 软核 CPU。汇报重点是 RTL 设计、GPIO 外设和 Vivado XSim 功能验证。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这一页讲范围。当前阶段已经完成可综合 RTL、测试平台、机器码程序、XSim 回归和波形证据。暂时不声明上板完成，因为还没有 XDC、时钟约束和物理管脚分配。这样说比较严谨，也方便后续继续扩展。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这一页说明总体连接。CPU 通过 mem_addr 读取 instruction_memory，通过独立 I/O 接口访问 gpio8，所以可以称为简化 Harvard 架构。顶层对外只有 clk、resetn 和 8 位 gpio，内部再拆成输入、输出和方向控制。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这一页讲指令集。MiniRISC-16 当前支持 13 个有效 opcode，D、E、F 作为安全保留操作。控制器采用组合逻辑，先给默认安全值，再按 opcode 覆盖，这样可以避免未定义指令造成寄存器或外设被错误写入。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这一页是数据通路。它没有流水线、没有多周期状态机，也没有指令寄存器。当前 PC 先组合取指，随后译码、读寄存器、ALU 或 I/O 读、写回选择和下一 PC 计算都在一个周期内完成，最后在上升沿一起提交。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 GPIO。GPIO 内部不是直接写 inout 端口，而是分成 gpio_i、gpio_o 和 gpio_oe。地址 0x10 写输出，0x11 读输入，0x12 写方向。方向为 1 时输出，为 0 时高阻输入，外部输入再经过两级同步器。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这一页就是人工验证的核心。人工验证不是跑仿真，而是先看真值表。每个 opcode 对应哪些控制信号、是否写寄存器、是否写 Z、是否访问 I/O、PC 怎样更新，都在表里直接列出。保留指令 D、E、F 全部是安全 NOP。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最后讲 EDA 验证。六个 testbench 都通过编译、展开和 XSim 自检。系统级测试覆盖全部 opcode，最终日志显示 Failures 为 0。右侧 Vivado 波形截图能看到 errors 等于 0、completed 等于 1、opcode_coverage 等于 ffff，所以功能验证通过。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b5924faa441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27548ac8b44783" /><Relationship Type="http://schemas.openxmlformats.org/officeDocument/2006/relationships/slideLayout" Target="/ppt/slideLayouts/slideLayout1.xml" Id="R8956e5c67b6f4c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56e5c67b6f4c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niRISC Technical Dark">
      <a:dk1>
        <a:srgbClr val="020617"/>
      </a:dk1>
      <a:lt1>
        <a:srgbClr val="FFFFFF"/>
      </a:lt1>
      <a:dk2>
        <a:srgbClr val="0F172A"/>
      </a:dk2>
      <a:lt2>
        <a:srgbClr val="DBEAFE"/>
      </a:lt2>
      <a:accent1>
        <a:srgbClr val="4CC9F0"/>
      </a:accent1>
      <a:accent2>
        <a:srgbClr val="80ED99"/>
      </a:accent2>
      <a:accent3>
        <a:srgbClr val="F6C85F"/>
      </a:accent3>
      <a:accent4>
        <a:srgbClr val="FF6B6B"/>
      </a:accent4>
      <a:accent5>
        <a:srgbClr val="9B5DE5"/>
      </a:accent5>
      <a:accent6>
        <a:srgbClr val="00F5D4"/>
      </a:accent6>
      <a:hlink>
        <a:srgbClr val="4CC9F0"/>
      </a:hlink>
      <a:folHlink>
        <a:srgbClr val="C084F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niRISC Technical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786c6e85043d6" /><Relationship Type="http://schemas.openxmlformats.org/officeDocument/2006/relationships/notesSlide" Target="/ppt/notesSlides/notesSlide1.xml" Id="Rfb946dac4d0448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ad7d332474e69" /><Relationship Type="http://schemas.openxmlformats.org/officeDocument/2006/relationships/notesSlide" Target="/ppt/notesSlides/notesSlide2.xml" Id="R4acb798040144e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910557f404f40" /><Relationship Type="http://schemas.openxmlformats.org/officeDocument/2006/relationships/notesSlide" Target="/ppt/notesSlides/notesSlide3.xml" Id="R2820cbc1046145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597d0b3224d75" /><Relationship Type="http://schemas.openxmlformats.org/officeDocument/2006/relationships/notesSlide" Target="/ppt/notesSlides/notesSlide4.xml" Id="Rdab2cbd847c84b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dfd0485b34868" /><Relationship Type="http://schemas.openxmlformats.org/officeDocument/2006/relationships/notesSlide" Target="/ppt/notesSlides/notesSlide5.xml" Id="Rcb6a031737c34f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e44fd23ea4115" /><Relationship Type="http://schemas.openxmlformats.org/officeDocument/2006/relationships/notesSlide" Target="/ppt/notesSlides/notesSlide6.xml" Id="R74e0cd8bef444a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dd0b3e9174a8f" /><Relationship Type="http://schemas.openxmlformats.org/officeDocument/2006/relationships/notesSlide" Target="/ppt/notesSlides/notesSlide7.xml" Id="R9c171620dd2245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3d85a66b849f8" /><Relationship Type="http://schemas.openxmlformats.org/officeDocument/2006/relationships/image" Target="/ppt/media/image.png" Id="R5b21350863a044cb" /><Relationship Type="http://schemas.openxmlformats.org/officeDocument/2006/relationships/notesSlide" Target="/ppt/notesSlides/notesSlide8.xml" Id="Rb5794b14118345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F1BE6-CF0C-43D7-8576-E417B633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1F"/>
              </a:gs>
              <a:gs pos="58000">
                <a:srgbClr val="0B2140"/>
              </a:gs>
              <a:gs pos="100000">
                <a:srgbClr val="102B3C"/>
              </a:gs>
            </a:gsLst>
            <a:lin ang="8100000"/>
          </a:gra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1CE08-A113-4AD5-9233-59276DB5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9144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MiniRISC-16 单周期 CPU 与 8 位 GPIO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93B8A-048A-4A1F-81CD-4F265CFD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Verilog RTL 设计与 Vivado XSim 功能验证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23D9A-3977-40DA-A563-E5E56C2A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EES331 Zynq-7020 FPGA，PL 侧自定义软核 CPU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07B32-FB9B-4DC2-A6B7-99682687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914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D32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FE5A8-BEE3-4C66-A8DB-B84BF801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设计对象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3352B-074C-47AA-AFEF-81D216C7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16 位数据宽度，4 个通用寄存器，8 位 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1DDFC-A0D7-416E-B3D0-A34CF0A7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00550"/>
            <a:ext cx="2914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D32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A123F-DA72-4947-A403-E91A903C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910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0ED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0ED99"/>
                </a:solidFill>
                <a:latin typeface="Microsoft YaHei"/>
                <a:ea typeface="Microsoft YaHei"/>
                <a:cs typeface="Microsoft YaHei"/>
              </a:rPr>
              <a:t>执行方式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DDEFA-5B34-4A8C-B929-50D747A3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5300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非流水线单周期结构，每个周期提交一条指令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098CD-83FD-4EE9-A75D-2634D010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00550"/>
            <a:ext cx="2914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D32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70DBD-2B00-438F-8612-A059DADD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910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8B140-0B04-40F1-8AAB-E6DA1AD8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六个 testbench PASS，Failures 为 0</a:t>
            </a:r>
          </a:p>
        </p:txBody>
      </p:sp>
    </p:spTree>
    <p:extLst>
      <p:ext uri="{BB962C8B-B14F-4D97-AF65-F5344CB8AC3E}">
        <p14:creationId xmlns:p14="http://schemas.microsoft.com/office/powerpoint/2010/main" val="16202838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F06E482-2258-44AB-A5DB-4FA72DDB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项目目标与阶段边界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869B8C2A-0791-4908-A85E-C09B0985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itle_rule">
            <a:extLst xmlns:a="http://schemas.openxmlformats.org/drawingml/2006/main">
              <a:ext uri="{FF2B5EF4-FFF2-40B4-BE49-F238E27FC236}">
                <a16:creationId xmlns:a16="http://schemas.microsoft.com/office/drawing/2014/main" id="{6F10C9FB-EB16-4144-A86B-2AA9568B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3D5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7AD178A-5844-4D54-A6AB-509A56B5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rPr>
              <a:t>MiniRISC-16 CPU，RTL 设计与 Vivado XSim 功能验证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98BC0-EE5E-4935-9D17-1EC05CD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3333750" cy="36766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D32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88512-67B4-4702-B5B9-39378DE9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0ED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0ED99"/>
                </a:solidFill>
                <a:latin typeface="Microsoft YaHei"/>
                <a:ea typeface="Microsoft YaHei"/>
                <a:cs typeface="Microsoft YaHei"/>
              </a:rPr>
              <a:t>已完成内容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82AC6-3A3D-4938-9C37-B9F42A13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291465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Verilog RTL、模块级 testbench、系统级 testbench、机器码程序、回归脚本、仿真日志和波形截图。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12547-CE66-4EFB-AADC-3E14028F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52550"/>
            <a:ext cx="3333750" cy="36766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D32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F38A5-099C-4E09-BAB6-03193697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430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设计规格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56F5B-AE70-4092-A20D-76F5E3FD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291465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16 位数据宽度，4 个寄存器，8 位 PC，13 个有效 opcode，3 个安全保留 opcode。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25E1D-D4ED-4A26-8FFD-44084F02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52550"/>
            <a:ext cx="3333750" cy="36766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D32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AE461-0824-41D4-82C7-A6E1D961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430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rPr>
              <a:t>本阶段不包含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AA9ED-6A0A-4115-B57D-85421673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91465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XDC、综合时序、bitstream、ILA 和上板验证。这些工作需要后续管脚和板级约束。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CA62A-4171-4EAF-8952-EA4F5523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054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目标是在仿真阶段证明 CPU 和 GPIO 的功能正确，为后续上板保留清晰顶层边界。</a:t>
            </a:r>
          </a:p>
        </p:txBody>
      </p:sp>
    </p:spTree>
    <p:extLst>
      <p:ext uri="{BB962C8B-B14F-4D97-AF65-F5344CB8AC3E}">
        <p14:creationId xmlns:p14="http://schemas.microsoft.com/office/powerpoint/2010/main" val="1200247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75B7947-DE52-4AAE-9C76-5F0EFA04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系统架构与外部端口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56E777E0-D083-45E5-83F1-AD4D1E21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itle_rule">
            <a:extLst xmlns:a="http://schemas.openxmlformats.org/drawingml/2006/main">
              <a:ext uri="{FF2B5EF4-FFF2-40B4-BE49-F238E27FC236}">
                <a16:creationId xmlns:a16="http://schemas.microsoft.com/office/drawing/2014/main" id="{EE44C7BC-95D8-4C6B-BEFF-4A4D6DD2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3D5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9F28839-18F7-4EFE-84EB-B7C81C3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rPr>
              <a:t>MiniRISC-16 CPU，RTL 设计与 Vivado XSim 功能验证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3EA82-DAF2-4FF7-A980-4A958540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简化 Harvard 架构：指令通路和 I/O 通路分离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F2B3F-3113-4CB3-A0F2-8714DA8F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32943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33DB5-7C4B-4A7F-989A-EE30DFF6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reset_conditioner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45752-B44E-44D7-AC21-E3F2A7DC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resetn 转换为同步 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0FCBF-A920-421E-83E5-1E87BBF7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19250"/>
            <a:ext cx="2076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32943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3B451-D2D4-481E-8FB0-49846DC3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240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instruction_memory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6441E-0E7E-48C1-90EA-396E1A84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256 × 16 组合读 ROM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18E90-B03D-4C48-8EE7-40C284CA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38300"/>
            <a:ext cx="2076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3557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DCE17-DAC8-4A42-B4DD-B482D9A2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4307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cpu_core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5A8E5-D2F0-446C-BC1B-3A33F869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控制器、数据通路</a:t>
            </a:r>
          </a:p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ALU、寄存器组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E30BB-B45E-4B06-BBE0-FBC0709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19250"/>
            <a:ext cx="2076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32943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04B55-24CD-415A-99EE-82CF7E0B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240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gpio8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3CBD9-F755-4CC9-9CC5-D084328A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OUT、IN、DIR 地址映射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34C90-C91D-40BF-8510-D41C88B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76650"/>
            <a:ext cx="2057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324A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B572F-8E3D-4A09-853F-B19D5C23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8142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gpio[7:0]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8376E-6AF1-40EE-A683-202215D9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576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顶层形成逐位三态引脚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12F52-A166-46DD-AC6B-CC2A6293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717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C9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85611-5272-4F9E-A0F1-AA03D724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C9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63CC3-5224-4D36-9141-A0FD44E1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2415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C9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E3E16-1860-4B35-9384-4F657632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ED9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513FB-AC20-40D7-BCA0-5FEAF123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ED99"/>
            </a:solidFill>
            <a:prstDash val="solid"/>
          </a:ln>
        </p:spPr>
      </p:sp>
      <p:graphicFrame>
        <p:nvGraphicFramePr>
          <p:cNvPr id="52" name=""/>
          <p:cNvGraphicFramePr/>
          <p:nvPr/>
        </p:nvGraphicFramePr>
        <p:xfrm>
          <a:off xmlns:a="http://schemas.openxmlformats.org/drawingml/2006/main" x="742950" y="3943350"/>
          <a:ext xmlns:a="http://schemas.openxmlformats.org/drawingml/2006/main" cx="63627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47800"/>
                <a:gridCol w="1047750"/>
                <a:gridCol w="3867150"/>
              </a:tblGrid>
              <a:tr h="3714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顶层端口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clk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input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系统时钟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resetn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input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低有效复位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gpio[7:0]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inout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位双向 GPIO 引脚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349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95D58DC-99A6-46FC-BDF2-9973DC37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指令集与控制器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01D2A379-37D8-4820-9F34-862981C9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itle_rule">
            <a:extLst xmlns:a="http://schemas.openxmlformats.org/drawingml/2006/main">
              <a:ext uri="{FF2B5EF4-FFF2-40B4-BE49-F238E27FC236}">
                <a16:creationId xmlns:a16="http://schemas.microsoft.com/office/drawing/2014/main" id="{D7526F5F-4F36-4E97-AFE7-4B3F29C1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3D5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2B5986F-BA7A-4F37-82FC-2B1881A9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rPr>
              <a:t>MiniRISC-16 CPU，RTL 设计与 Vivado XSim 功能验证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314450"/>
          <a:ext xmlns:a="http://schemas.openxmlformats.org/drawingml/2006/main" cx="6477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1790700"/>
                <a:gridCol w="3486150"/>
              </a:tblGrid>
              <a:tr h="4643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数据传送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MOVI、MOVR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立即数写寄存器，寄存器间传送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算术运算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ADDI、ADDR、SUB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位加减，自然截断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逻辑运算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XOR、AND、OR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按位逻辑运算并写回 Rd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CMP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只更新 Z，不写 Rd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控制流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JZ、JUMP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JZ 使用此前 CMP 保存的 Z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I/O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INP、OUP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通过独立 I/O 总线访问 GPIO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D、E、F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 NOP，PC 顺序递增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55BF3-C45A-42A4-BA28-BA4C485D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71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控制器是纯组合逻辑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CF5BE-9BDC-43F7-B4C2-5B4F97EF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43100"/>
            <a:ext cx="3429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先给所有控制信号安全默认值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再按 opcode 覆盖 ALU、写回、分支和 I/O 控制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保留 opcode 不写寄存器，不写 Z，不访问 I/O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不使用隐式锁存，方便综合和验证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59EDA-071D-4884-A7EB-3E9E4013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10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rPr>
              <a:t>1010 是 JUMP；0111 在本设计中是 AND</a:t>
            </a:r>
          </a:p>
        </p:txBody>
      </p:sp>
    </p:spTree>
    <p:extLst>
      <p:ext uri="{BB962C8B-B14F-4D97-AF65-F5344CB8AC3E}">
        <p14:creationId xmlns:p14="http://schemas.microsoft.com/office/powerpoint/2010/main" val="1085207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89A7FB7-AC1A-417E-8C3B-B8D33DB9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单周期数据通路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68CDDD8-C1D9-4C4B-AA60-5D5D2D79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itle_rule">
            <a:extLst xmlns:a="http://schemas.openxmlformats.org/drawingml/2006/main">
              <a:ext uri="{FF2B5EF4-FFF2-40B4-BE49-F238E27FC236}">
                <a16:creationId xmlns:a16="http://schemas.microsoft.com/office/drawing/2014/main" id="{02844C0D-9151-421E-BADD-BAA90EDF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3D5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C429230-FDCB-488D-8E4F-26B0F11D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rPr>
              <a:t>MiniRISC-16 CPU，RTL 设计与 Vivado XSim 功能验证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453C5-248E-46B2-AB31-511ED644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557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CBEE1-59A9-42E7-A548-725D2FA9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45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PC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793CF-5A1E-4446-B5E8-2E9A6749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8 位指令地址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5D070-2C75-41C0-B7FE-6CE8A0A8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09750"/>
            <a:ext cx="1752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557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227EE-5701-415C-9496-41623CDE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145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ROM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1DDB8-09D0-47D1-A112-D319C40A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组合读指令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D23F1-59BB-47BA-BF37-1694622E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85900"/>
            <a:ext cx="1695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324A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5333D-6B34-44CB-BECD-FDA108BC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9067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CB6CB-9AEA-4D1F-BAAB-8EBE0759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66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opcode 译码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EFF54-7C93-4272-99C7-5FA0F497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28900"/>
            <a:ext cx="1695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324A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A6F7B-8B02-4FB2-8834-6573A9FC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3367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register_file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BB4E7-BF95-4FEB-B01C-0136EE0F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组合读，同步写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48C25-9783-48A4-8D2E-9F1F84D3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557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5CF70D-95DB-4A38-B15C-772DD1DC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621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ALU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0810F-7A37-4C06-B62D-78939B9D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384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PASS、ADD、SUB</a:t>
            </a:r>
          </a:p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逻辑运算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E2B6F-5E25-4EBE-8985-2DAC13D1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57400"/>
            <a:ext cx="1543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557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591675-D80D-4E21-88D9-4B1634A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621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writeback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3BABC-0D96-4C01-A268-039012CF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ALU 或 io_rdata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52B73-1086-47DB-A288-07A0728C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812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C9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8A086-FDB0-465D-85B3-6CDE824B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5524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C9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6505D-F8CE-4030-BFB0-A58ECFD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81225"/>
            <a:ext cx="55245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C9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DAEDE-5FAF-4C81-8720-99D6E4D2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28875"/>
            <a:ext cx="55245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C9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991C0-EC17-43A1-85AE-01A6E6A5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C9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9155A8-53E1-4AF3-8F22-C0C96738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0035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ED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1053A-3544-4A41-9892-56E0F97B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8543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ED9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872F3-1D0E-40DA-AA33-8186977A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ED9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2F8198-D223-4DCF-A468-E5280BB4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990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一个非复位时钟周期提交一条指令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FCCF7-D25B-4F28-A89F-73351F0F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351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500"/>
              </a:spcAft>
              <a:buChar char="•"/>
              <a:def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当前 PC 组合读出指令，控制器和寄存器组同时产生操作数</a:t>
            </a:r>
          </a:p>
          <a:p xmlns:a="http://schemas.openxmlformats.org/drawingml/2006/main">
            <a:pPr marL="228600" indent="-101600">
              <a:spcAft>
                <a:spcPts val="500"/>
              </a:spcAft>
              <a:buChar char="•"/>
              <a:def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ALU 或 I/O 读数据形成写回值</a:t>
            </a:r>
          </a:p>
          <a:p xmlns:a="http://schemas.openxmlformats.org/drawingml/2006/main">
            <a:pPr marL="228600" indent="-101600">
              <a:spcAft>
                <a:spcPts val="500"/>
              </a:spcAft>
              <a:buChar char="•"/>
              <a:def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时钟上升沿同时提交 PC、Rd、Z 和 GPIO 写操作</a:t>
            </a:r>
          </a:p>
          <a:p xmlns:a="http://schemas.openxmlformats.org/drawingml/2006/main">
            <a:pPr marL="228600" indent="-101600">
              <a:spcAft>
                <a:spcPts val="500"/>
              </a:spcAft>
              <a:buChar char="•"/>
              <a:def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只有 CMP 更新 Z，JZ 使用此前保存的 Z</a:t>
            </a:r>
          </a:p>
        </p:txBody>
      </p:sp>
    </p:spTree>
    <p:extLst>
      <p:ext uri="{BB962C8B-B14F-4D97-AF65-F5344CB8AC3E}">
        <p14:creationId xmlns:p14="http://schemas.microsoft.com/office/powerpoint/2010/main" val="1531611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17D9390-9B0A-4D54-9301-E16B0229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GPIO 外设与地址映射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8319E125-0887-46A6-ACE6-236011BD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itle_rule">
            <a:extLst xmlns:a="http://schemas.openxmlformats.org/drawingml/2006/main">
              <a:ext uri="{FF2B5EF4-FFF2-40B4-BE49-F238E27FC236}">
                <a16:creationId xmlns:a16="http://schemas.microsoft.com/office/drawing/2014/main" id="{624ECBB2-94AC-4ACD-A23D-86E79A8D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3D5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16A1D6A-7731-4C9F-BA77-6D1F338D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rPr>
              <a:t>MiniRISC-16 CPU，RTL 设计与 Vivado XSim 功能验证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314450"/>
          <a:ext xmlns:a="http://schemas.openxmlformats.org/drawingml/2006/main" cx="641985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9650"/>
                <a:gridCol w="1314450"/>
                <a:gridCol w="1466850"/>
                <a:gridCol w="2628900"/>
              </a:tblGrid>
              <a:tr h="46863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0x10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GPIO_OUT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保存输出数据，只使用 io_wdata[7:0]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0x11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GPIO_IN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返回两级同步后的输入，高 8 位补零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0x12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GPIO_DIR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读写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为输出，0 为输入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未映射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读零，写入无副作用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E0A8F-27E9-4CD9-AA89-7D81EB38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395A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26824-1EE4-4398-A4C2-CE02C0D7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240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gpio_oe =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99DAF-5E87-4120-ABF4-5604D734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驱动 gpio_o 到外部引脚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18E19-00FB-4BBF-8E8F-0A29056A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395A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21AB2-FB65-4124-8EF8-E4A45072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987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gpio_oe =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831D7-FBD3-4F2B-BC01-662C997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引脚保持高阻，作为输入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B2969-34FD-4143-B958-3A786221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2476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395A"/>
          </a:solidFill>
          <a:ln xmlns:a="http://schemas.openxmlformats.org/drawingml/2006/main" w="10478">
            <a:solidFill>
              <a:srgbClr val="3550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9C9D3-8EF9-44CF-BB90-0253E84C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624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输入同步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8F299-1D9F-491B-952D-4ECD80FF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386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外部输入经过两级触发器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610DB-DAFF-4D87-97FF-F350E3F3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581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5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GPIO_OUT 和 GPIO_DIR 复位清零，默认全部为输入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5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I/O 读数据统一扩展为 16 位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5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顶层才形成真正的 inout 三态端口</a:t>
            </a:r>
          </a:p>
        </p:txBody>
      </p:sp>
    </p:spTree>
    <p:extLst>
      <p:ext uri="{BB962C8B-B14F-4D97-AF65-F5344CB8AC3E}">
        <p14:creationId xmlns:p14="http://schemas.microsoft.com/office/powerpoint/2010/main" val="1504055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A9ED3E7-E131-4D35-A6CF-AB11174E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人工验证：控制真值表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DCC5C6D8-1CAF-406A-AC19-DDF49CD0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itle_rule">
            <a:extLst xmlns:a="http://schemas.openxmlformats.org/drawingml/2006/main">
              <a:ext uri="{FF2B5EF4-FFF2-40B4-BE49-F238E27FC236}">
                <a16:creationId xmlns:a16="http://schemas.microsoft.com/office/drawing/2014/main" id="{24F1959C-77AC-415F-A585-F9DB4C25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3D5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EFF54E4-80EE-49F7-9E8C-8551AC4A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rPr>
              <a:t>MiniRISC-16 CPU，RTL 设计与 Vivado XSim 功能验证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CDA0D-ED47-4D9D-84EB-B077DC5C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6C2D2"/>
                </a:solidFill>
                <a:latin typeface="Microsoft YaHei"/>
                <a:ea typeface="Microsoft YaHei"/>
                <a:cs typeface="Microsoft YaHei"/>
              </a:rPr>
              <a:t>静态核对的核心是逐 opcode 检查控制信号，确认 RTL 与设计 md 一致。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619250"/>
          <a:ext xmlns:a="http://schemas.openxmlformats.org/drawingml/2006/main" cx="111252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876300"/>
                <a:gridCol w="990600"/>
                <a:gridCol w="571500"/>
                <a:gridCol w="552450"/>
                <a:gridCol w="552450"/>
                <a:gridCol w="495300"/>
                <a:gridCol w="552450"/>
                <a:gridCol w="628650"/>
                <a:gridCol w="628650"/>
                <a:gridCol w="1524000"/>
              </a:tblGrid>
              <a:tr h="235324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ALU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Rd写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Z写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JZ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JMP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I/O读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I/O写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MOVI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PASS_B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imm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MOVR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PASS_B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ADDI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imm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XOR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XOR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CMP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AND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AND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JZ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PASS_B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Z?imm:PC+1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JUMP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PASS_B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imm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PASS_B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OUP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PASS_B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PASS_B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PASS_B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</a:tr>
              <a:tr h="235324"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PASS_B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Rs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>
                          <a:solidFill>
                            <a:srgbClr val="D8E4F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PC+1</a:t>
                      </a:r>
                    </a:p>
                  </a:txBody>
                  <a:tcPr marL="47625" marR="47625" marT="19050" marB="19050" anchor="ctr">
                    <a:solidFill>
                      <a:srgbClr val="18273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4C341-286A-40B2-9A07-7449D3D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0ED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0ED99"/>
                </a:solidFill>
                <a:latin typeface="Microsoft YaHei"/>
                <a:ea typeface="Microsoft YaHei"/>
                <a:cs typeface="Microsoft YaHei"/>
              </a:rPr>
              <a:t>结论：13 个有效 opcode 和 3 个保留 opcode 都有明确安全控制。</a:t>
            </a:r>
          </a:p>
        </p:txBody>
      </p:sp>
    </p:spTree>
    <p:extLst>
      <p:ext uri="{BB962C8B-B14F-4D97-AF65-F5344CB8AC3E}">
        <p14:creationId xmlns:p14="http://schemas.microsoft.com/office/powerpoint/2010/main" val="542374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CF9FE0A-0989-4791-8D2A-6B8C51CE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EDA 验证结果与结论</a:t>
            </a:r>
          </a:p>
        </p:txBody>
      </p:sp>
      <p:sp>
        <p:nvSpPr>
          <p:cNvPr id="2" name="page_number">
            <a:extLst xmlns:a="http://schemas.openxmlformats.org/drawingml/2006/main">
              <a:ext uri="{FF2B5EF4-FFF2-40B4-BE49-F238E27FC236}">
                <a16:creationId xmlns:a16="http://schemas.microsoft.com/office/drawing/2014/main" id="{4DC3D2EA-BB22-45E9-8844-DF1BE8AB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000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itle_rule">
            <a:extLst xmlns:a="http://schemas.openxmlformats.org/drawingml/2006/main">
              <a:ext uri="{FF2B5EF4-FFF2-40B4-BE49-F238E27FC236}">
                <a16:creationId xmlns:a16="http://schemas.microsoft.com/office/drawing/2014/main" id="{493118BB-86BA-4596-BEE1-148DAE1B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3D5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FE80B62-7565-45AB-9404-285DAD48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F8DA3"/>
                </a:solidFill>
                <a:latin typeface="Microsoft YaHei"/>
                <a:ea typeface="Microsoft YaHei"/>
                <a:cs typeface="Microsoft YaHei"/>
              </a:rPr>
              <a:t>MiniRISC-16 CPU，RTL 设计与 Vivado XSim 功能验证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28650" y="1295400"/>
          <a:ext xmlns:a="http://schemas.openxmlformats.org/drawingml/2006/main" cx="41910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7900"/>
                <a:gridCol w="1943100"/>
              </a:tblGrid>
              <a:tr h="37861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验证项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7FB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47625" marR="47625" marT="28575" marB="28575">
                    <a:solidFill>
                      <a:srgbClr val="173557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tb_alu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80ED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tb_controller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80ED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tb_datapath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80ED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tb_reset_conditioner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80ED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tb_gpio8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80ED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tb_system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80ED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  <a:tr h="378619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EDF5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总结果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80ED9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Failures: 0</a:t>
                      </a:r>
                    </a:p>
                  </a:txBody>
                  <a:tcPr marL="47625" marR="47625" marT="19050" marB="19050" anchor="ctr">
                    <a:solidFill>
                      <a:srgbClr val="0D1A2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E8925-2EE1-4E5C-A116-191FABB0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C9F0"/>
                </a:solidFill>
                <a:latin typeface="Microsoft YaHei"/>
                <a:ea typeface="Microsoft YaHei"/>
                <a:cs typeface="Microsoft YaHei"/>
              </a:rPr>
              <a:t>系统终态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8EA62-2EA3-4C78-9728-C9B946D2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552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PC=0x21，Z=1，R0～R3=0x00A5</a:t>
            </a:r>
          </a:p>
          <a:p xmlns:a="http://schemas.openxmlformats.org/drawingml/2006/main">
            <a:pPr>
              <a:defRPr sz="13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7FBFF"/>
                </a:solidFill>
                <a:latin typeface="Microsoft YaHei"/>
                <a:ea typeface="Microsoft YaHei"/>
                <a:cs typeface="Microsoft YaHei"/>
              </a:rPr>
              <a:t>GPIO_OUT=0xA5，GPIO_DIR=0x0F，GPIO_IN=0xA5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1350863a044cb"/>
          <a:stretch xmlns:a="http://schemas.openxmlformats.org/drawingml/2006/main"/>
        </p:blipFill>
        <p:spPr>
          <a:xfrm xmlns:a="http://schemas.openxmlformats.org/drawingml/2006/main">
            <a:off x="5334000" y="1535894"/>
            <a:ext cx="6286500" cy="3386162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DBC9C-E34D-456B-86E7-A3E3E66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4102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6C85F"/>
                </a:solidFill>
                <a:latin typeface="Microsoft YaHei"/>
                <a:ea typeface="Microsoft YaHei"/>
                <a:cs typeface="Microsoft YaHei"/>
              </a:rPr>
              <a:t>波形截图显示 errors=0、completed=1、opcode_coverage=ffff。</a:t>
            </a:r>
          </a:p>
        </p:txBody>
      </p:sp>
    </p:spTree>
    <p:extLst>
      <p:ext uri="{BB962C8B-B14F-4D97-AF65-F5344CB8AC3E}">
        <p14:creationId xmlns:p14="http://schemas.microsoft.com/office/powerpoint/2010/main" val="8790770"/>
      </p:ext>
    </p:extLst>
  </p:cSld>
</p:sld>
</file>

<file path=ppt/theme/theme1.xml><?xml version="1.0" encoding="utf-8"?>
<a:theme xmlns:a="http://schemas.openxmlformats.org/drawingml/2006/main" name="ChatGPT">
  <a:themeElements>
    <a:clrScheme name="MiniRISC Technical Dark">
      <a:dk1>
        <a:srgbClr val="020617"/>
      </a:dk1>
      <a:lt1>
        <a:srgbClr val="FFFFFF"/>
      </a:lt1>
      <a:dk2>
        <a:srgbClr val="0F172A"/>
      </a:dk2>
      <a:lt2>
        <a:srgbClr val="DBEAFE"/>
      </a:lt2>
      <a:accent1>
        <a:srgbClr val="4CC9F0"/>
      </a:accent1>
      <a:accent2>
        <a:srgbClr val="80ED99"/>
      </a:accent2>
      <a:accent3>
        <a:srgbClr val="F6C85F"/>
      </a:accent3>
      <a:accent4>
        <a:srgbClr val="FF6B6B"/>
      </a:accent4>
      <a:accent5>
        <a:srgbClr val="9B5DE5"/>
      </a:accent5>
      <a:accent6>
        <a:srgbClr val="00F5D4"/>
      </a:accent6>
      <a:hlink>
        <a:srgbClr val="4CC9F0"/>
      </a:hlink>
      <a:folHlink>
        <a:srgbClr val="C084F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iniRISC Technical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2026-09-13T03:08:15.4190000Z</dcterms:created>
  <dcterms:modified xsi:type="dcterms:W3CDTF">2026-09-13T03:08:15.4190000Z</dcterms:modified>
</coreProperties>
</file>