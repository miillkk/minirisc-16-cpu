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53" r:id="rId2"/>
    <p:sldId id="541" r:id="rId3"/>
    <p:sldId id="260" r:id="rId4"/>
    <p:sldId id="546" r:id="rId5"/>
    <p:sldId id="547" r:id="rId6"/>
    <p:sldId id="552" r:id="rId7"/>
    <p:sldId id="538" r:id="rId8"/>
    <p:sldId id="536" r:id="rId9"/>
    <p:sldId id="537" r:id="rId10"/>
    <p:sldId id="525" r:id="rId11"/>
    <p:sldId id="522" r:id="rId12"/>
    <p:sldId id="549" r:id="rId13"/>
    <p:sldId id="528" r:id="rId14"/>
    <p:sldId id="539" r:id="rId15"/>
    <p:sldId id="523" r:id="rId16"/>
    <p:sldId id="535" r:id="rId17"/>
    <p:sldId id="545" r:id="rId18"/>
    <p:sldId id="524" r:id="rId19"/>
    <p:sldId id="496" r:id="rId2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等线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121" d="100"/>
          <a:sy n="121" d="100"/>
        </p:scale>
        <p:origin x="-78" y="-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D793F-2BB8-4C03-9B51-BCD84DF1B46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5EFA0B-7D3D-49CD-B8FD-CBDEDF36DA7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1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48F31-AE53-4B96-8FA6-0540F79D25B8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7A901-406A-488A-B908-75C9A279575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89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4551F-7389-4D32-B07E-95070DD66D1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B75DE-E979-4780-9840-BCEF129E5B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5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7012A-89A3-499E-849B-5B541175DC44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E7A0A-554D-43FF-A8F1-36C4CE73A04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27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2363F-B670-41C1-9FCA-627FE060B19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9EF079-F5FF-4789-B5DC-606848D868C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18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08398-43CD-478F-A1F7-7A4D929D7BBC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C038D-96CC-4F4C-ACD6-EF76BC057DE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73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ADE1D-0767-43E8-9D55-B6DE35D64F99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8604F-057E-41AF-AB90-58B3A717D72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22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68C02-83B9-486E-BC31-E82D29042B1C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E3B529-EDE9-421D-BFBD-DED08AD8682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09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1142D-6C5D-42EF-A918-3F05138D9C6A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8AE8A-7136-425E-ABF8-2EA02BA04A8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10D3F-F146-4BC9-A134-EC7E2349399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53210-542A-4B6E-9570-6D783C10A1A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56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4DEFA-0917-48A8-BB92-6677E7308A32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E1893-1E2A-4A7D-9CF6-FD03EE5E268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09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CA2CC-E075-4403-A607-E539BDB6690B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69EE86-410A-4FBC-B832-C27D75FF1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75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2E0661-DBB4-4705-BDB8-209DD9A4D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7BACB4-D944-4C11-BB6B-4A6823EAAF3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6B3F4-85E0-40D3-83A9-BFE9140B4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F8969-EE55-4AD2-8AD5-351641A4B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83B7C40D-F75D-4A48-AEB5-8ADF88759579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1031" name="Picture 4" descr="UESTC logo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 smtClean="0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2051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3</a:t>
            </a:r>
            <a:endParaRPr lang="zh-CN" altLang="en-US" sz="4000"/>
          </a:p>
        </p:txBody>
      </p:sp>
      <p:sp>
        <p:nvSpPr>
          <p:cNvPr id="2052" name="文本框 5"/>
          <p:cNvSpPr txBox="1">
            <a:spLocks noChangeArrowheads="1"/>
          </p:cNvSpPr>
          <p:nvPr/>
        </p:nvSpPr>
        <p:spPr bwMode="auto">
          <a:xfrm>
            <a:off x="4232275" y="35909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</a:t>
            </a:r>
            <a:r>
              <a:rPr lang="en-US" altLang="zh-CN" sz="3600" dirty="0" smtClean="0"/>
              <a:t>:</a:t>
            </a:r>
            <a:endParaRPr lang="zh-CN" altLang="en-US" sz="3600" dirty="0"/>
          </a:p>
        </p:txBody>
      </p:sp>
      <p:sp>
        <p:nvSpPr>
          <p:cNvPr id="2053" name="文本框 6"/>
          <p:cNvSpPr txBox="1">
            <a:spLocks noChangeArrowheads="1"/>
          </p:cNvSpPr>
          <p:nvPr/>
        </p:nvSpPr>
        <p:spPr bwMode="auto">
          <a:xfrm>
            <a:off x="4216400" y="42370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r>
              <a:rPr lang="en-US" altLang="zh-CN" sz="3600"/>
              <a:t>TA:</a:t>
            </a:r>
            <a:endParaRPr lang="zh-CN" altLang="en-US" sz="3200"/>
          </a:p>
        </p:txBody>
      </p:sp>
      <p:sp>
        <p:nvSpPr>
          <p:cNvPr id="2054" name="文本框 3"/>
          <p:cNvSpPr txBox="1">
            <a:spLocks noChangeArrowheads="1"/>
          </p:cNvSpPr>
          <p:nvPr/>
        </p:nvSpPr>
        <p:spPr bwMode="auto">
          <a:xfrm>
            <a:off x="4244975" y="4883150"/>
            <a:ext cx="42259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</a:t>
            </a:r>
            <a:r>
              <a:rPr lang="en-US" altLang="zh-CN" sz="3600" dirty="0" smtClean="0"/>
              <a:t>: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60438" y="309563"/>
            <a:ext cx="7886700" cy="827087"/>
          </a:xfrm>
        </p:spPr>
        <p:txBody>
          <a:bodyPr/>
          <a:lstStyle/>
          <a:p>
            <a:pPr eaLnBrk="1" hangingPunct="1"/>
            <a:r>
              <a:rPr lang="en-US" altLang="zh-CN" sz="5400" b="1" smtClean="0">
                <a:solidFill>
                  <a:srgbClr val="00B0F0"/>
                </a:solidFill>
              </a:rPr>
              <a:t>Requirements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4099" name="内容占位符 3"/>
          <p:cNvSpPr>
            <a:spLocks noGrp="1"/>
          </p:cNvSpPr>
          <p:nvPr>
            <p:ph idx="1"/>
          </p:nvPr>
        </p:nvSpPr>
        <p:spPr>
          <a:xfrm>
            <a:off x="914400" y="1589088"/>
            <a:ext cx="10614025" cy="3810000"/>
          </a:xfrm>
        </p:spPr>
        <p:txBody>
          <a:bodyPr>
            <a:spAutoFit/>
          </a:bodyPr>
          <a:lstStyle/>
          <a:p>
            <a:pPr marL="0" indent="0" eaLnBrk="1" hangingPunct="1">
              <a:buFont typeface="Arial" pitchFamily="34" charset="0"/>
              <a:buNone/>
            </a:pPr>
            <a:r>
              <a:rPr lang="en-US" altLang="zh-CN" sz="3200" smtClean="0"/>
              <a:t>1.  Understand the </a:t>
            </a:r>
            <a:r>
              <a:rPr lang="en-US" altLang="zh-CN" sz="3200" smtClean="0">
                <a:solidFill>
                  <a:srgbClr val="FF0000"/>
                </a:solidFill>
              </a:rPr>
              <a:t>function of the control unit </a:t>
            </a:r>
            <a:r>
              <a:rPr lang="en-US" altLang="zh-CN" sz="3200" smtClean="0"/>
              <a:t>in CPU.</a:t>
            </a:r>
          </a:p>
          <a:p>
            <a:pPr marL="0" indent="0" eaLnBrk="1" hangingPunct="1">
              <a:buFont typeface="Arial" pitchFamily="34" charset="0"/>
              <a:buNone/>
            </a:pPr>
            <a:endParaRPr lang="en-US" altLang="zh-CN" sz="3200" smtClean="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zh-CN" sz="3200" smtClean="0"/>
              <a:t>2. Consider about the controller’s </a:t>
            </a:r>
            <a:r>
              <a:rPr lang="en-US" altLang="zh-CN" sz="3200" smtClean="0">
                <a:solidFill>
                  <a:srgbClr val="FF0000"/>
                </a:solidFill>
              </a:rPr>
              <a:t>STG</a:t>
            </a:r>
            <a:r>
              <a:rPr lang="en-US" altLang="zh-CN" sz="3200" smtClean="0"/>
              <a:t> according to the ISA.</a:t>
            </a:r>
          </a:p>
          <a:p>
            <a:pPr marL="0" indent="0" eaLnBrk="1" hangingPunct="1">
              <a:buFont typeface="Arial" pitchFamily="34" charset="0"/>
              <a:buNone/>
            </a:pPr>
            <a:endParaRPr lang="en-US" altLang="zh-CN" sz="3200" smtClean="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zh-CN" sz="3200" smtClean="0"/>
              <a:t>3. Finish the </a:t>
            </a:r>
            <a:r>
              <a:rPr lang="en-US" altLang="zh-CN" sz="3200" smtClean="0">
                <a:solidFill>
                  <a:srgbClr val="FF0000"/>
                </a:solidFill>
              </a:rPr>
              <a:t>state_transition module </a:t>
            </a:r>
            <a:r>
              <a:rPr lang="en-US" altLang="zh-CN" sz="3200" smtClean="0"/>
              <a:t>based on the </a:t>
            </a:r>
            <a:r>
              <a:rPr lang="en-US" altLang="zh-CN" sz="3200" smtClean="0">
                <a:sym typeface="+mn-ea"/>
              </a:rPr>
              <a:t>given codes </a:t>
            </a:r>
            <a:r>
              <a:rPr lang="en-US" altLang="zh-CN" sz="3200" smtClean="0"/>
              <a:t>.                                 </a:t>
            </a:r>
          </a:p>
          <a:p>
            <a:pPr marL="0" indent="0" eaLnBrk="1" hangingPunct="1">
              <a:buFont typeface="Arial" pitchFamily="34" charset="0"/>
              <a:buNone/>
            </a:pPr>
            <a:endParaRPr lang="en-US" altLang="zh-CN" sz="3200" smtClean="0"/>
          </a:p>
          <a:p>
            <a:pPr marL="0" indent="0" eaLnBrk="1" hangingPunct="1">
              <a:buFont typeface="Arial" pitchFamily="34" charset="0"/>
              <a:buNone/>
            </a:pPr>
            <a:r>
              <a:rPr lang="en-US" altLang="zh-CN" sz="3200" smtClean="0"/>
              <a:t>4. </a:t>
            </a:r>
            <a:r>
              <a:rPr lang="en-US" altLang="zh-CN" sz="3200" smtClean="0">
                <a:solidFill>
                  <a:srgbClr val="FF0000"/>
                </a:solidFill>
              </a:rPr>
              <a:t>Simulate</a:t>
            </a:r>
            <a:r>
              <a:rPr lang="en-US" altLang="zh-CN" sz="3200" smtClean="0"/>
              <a:t> and check the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8223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 smtClean="0">
                <a:solidFill>
                  <a:srgbClr val="00B0F0"/>
                </a:solidFill>
              </a:rPr>
              <a:t>Content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xmlns="" id="{4C77308F-46E7-4871-B97B-FB8F6894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6938" y="1325563"/>
            <a:ext cx="10025062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EDA tools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</a:t>
            </a:r>
            <a:endParaRPr lang="zh-CN" altLang="zh-CN" sz="2000" dirty="0"/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Controller Design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Understand the STG for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control_unit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state_transition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state_transition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endParaRPr lang="en-US" altLang="zh-CN" sz="4000" dirty="0"/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" name="标题 1"/>
          <p:cNvSpPr>
            <a:spLocks noGrp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 smtClean="0">
                <a:solidFill>
                  <a:srgbClr val="00B0F0"/>
                </a:solidFill>
                <a:ea typeface="等线 Light" pitchFamily="2" charset="-122"/>
              </a:rPr>
              <a:t>CPU Organization</a:t>
            </a:r>
            <a:endParaRPr lang="zh-CN" altLang="en-US" sz="5400" smtClean="0"/>
          </a:p>
        </p:txBody>
      </p:sp>
      <p:grpSp>
        <p:nvGrpSpPr>
          <p:cNvPr id="7172" name="组合 4"/>
          <p:cNvGrpSpPr>
            <a:grpSpLocks/>
          </p:cNvGrpSpPr>
          <p:nvPr/>
        </p:nvGrpSpPr>
        <p:grpSpPr bwMode="auto">
          <a:xfrm>
            <a:off x="2244725" y="1271588"/>
            <a:ext cx="8281988" cy="5221287"/>
            <a:chOff x="301625" y="993775"/>
            <a:chExt cx="8281988" cy="5221288"/>
          </a:xfrm>
        </p:grpSpPr>
        <p:sp>
          <p:nvSpPr>
            <p:cNvPr id="7173" name="Oval 37"/>
            <p:cNvSpPr>
              <a:spLocks noChangeArrowheads="1"/>
            </p:cNvSpPr>
            <p:nvPr/>
          </p:nvSpPr>
          <p:spPr bwMode="auto">
            <a:xfrm>
              <a:off x="301625" y="1943100"/>
              <a:ext cx="2200275" cy="21907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74" name="Text Box 41"/>
            <p:cNvSpPr txBox="1">
              <a:spLocks noChangeArrowheads="1"/>
            </p:cNvSpPr>
            <p:nvPr/>
          </p:nvSpPr>
          <p:spPr bwMode="auto">
            <a:xfrm>
              <a:off x="1068388" y="1898650"/>
              <a:ext cx="668337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800" b="1">
                  <a:latin typeface="Arial" pitchFamily="34" charset="0"/>
                  <a:ea typeface="宋体" pitchFamily="2" charset="-122"/>
                </a:rPr>
                <a:t>CPU</a:t>
              </a:r>
              <a:endParaRPr lang="en-GB" altLang="en-US" sz="20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75" name="Line 45"/>
            <p:cNvSpPr>
              <a:spLocks noChangeShapeType="1"/>
            </p:cNvSpPr>
            <p:nvPr/>
          </p:nvSpPr>
          <p:spPr bwMode="auto">
            <a:xfrm flipV="1">
              <a:off x="1150938" y="998538"/>
              <a:ext cx="6076950" cy="1350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" name="Line 46"/>
            <p:cNvSpPr>
              <a:spLocks noChangeShapeType="1"/>
            </p:cNvSpPr>
            <p:nvPr/>
          </p:nvSpPr>
          <p:spPr bwMode="auto">
            <a:xfrm>
              <a:off x="1466850" y="3159125"/>
              <a:ext cx="5895975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" name="Oval 48"/>
            <p:cNvSpPr>
              <a:spLocks noChangeArrowheads="1"/>
            </p:cNvSpPr>
            <p:nvPr/>
          </p:nvSpPr>
          <p:spPr bwMode="auto">
            <a:xfrm>
              <a:off x="927100" y="3159125"/>
              <a:ext cx="944563" cy="900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78" name="Text Box 49"/>
            <p:cNvSpPr txBox="1">
              <a:spLocks noChangeArrowheads="1"/>
            </p:cNvSpPr>
            <p:nvPr/>
          </p:nvSpPr>
          <p:spPr bwMode="auto">
            <a:xfrm>
              <a:off x="887413" y="3338513"/>
              <a:ext cx="1028700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latin typeface="Arial" pitchFamily="34" charset="0"/>
                  <a:ea typeface="宋体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latin typeface="Arial" pitchFamily="34" charset="0"/>
                  <a:ea typeface="宋体" pitchFamily="2" charset="-122"/>
                </a:rPr>
                <a:t>Unit</a:t>
              </a:r>
              <a:endParaRPr lang="en-US" altLang="zh-CN" sz="20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79" name="Oval 52"/>
            <p:cNvSpPr>
              <a:spLocks noChangeArrowheads="1"/>
            </p:cNvSpPr>
            <p:nvPr/>
          </p:nvSpPr>
          <p:spPr bwMode="auto">
            <a:xfrm>
              <a:off x="623888" y="2349500"/>
              <a:ext cx="977900" cy="9445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0" name="Text Box 54"/>
            <p:cNvSpPr txBox="1">
              <a:spLocks noChangeArrowheads="1"/>
            </p:cNvSpPr>
            <p:nvPr/>
          </p:nvSpPr>
          <p:spPr bwMode="auto">
            <a:xfrm>
              <a:off x="611188" y="2652713"/>
              <a:ext cx="10810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latin typeface="Arial" pitchFamily="34" charset="0"/>
                  <a:ea typeface="宋体" pitchFamily="2" charset="-122"/>
                </a:rPr>
                <a:t>Datapath</a:t>
              </a:r>
            </a:p>
          </p:txBody>
        </p:sp>
        <p:sp>
          <p:nvSpPr>
            <p:cNvPr id="7181" name="Oval 35" descr="50%"/>
            <p:cNvSpPr>
              <a:spLocks noChangeArrowheads="1"/>
            </p:cNvSpPr>
            <p:nvPr/>
          </p:nvSpPr>
          <p:spPr bwMode="auto">
            <a:xfrm>
              <a:off x="3806825" y="3294063"/>
              <a:ext cx="3151188" cy="2921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2" name="Oval 40"/>
            <p:cNvSpPr>
              <a:spLocks noChangeArrowheads="1"/>
            </p:cNvSpPr>
            <p:nvPr/>
          </p:nvSpPr>
          <p:spPr bwMode="auto">
            <a:xfrm>
              <a:off x="4414838" y="3808413"/>
              <a:ext cx="1901825" cy="133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3" name="Text Box 44"/>
            <p:cNvSpPr txBox="1">
              <a:spLocks noChangeArrowheads="1"/>
            </p:cNvSpPr>
            <p:nvPr/>
          </p:nvSpPr>
          <p:spPr bwMode="auto">
            <a:xfrm>
              <a:off x="4605338" y="4211638"/>
              <a:ext cx="1665287" cy="64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800" b="1">
                  <a:latin typeface="Arial" pitchFamily="34" charset="0"/>
                  <a:ea typeface="宋体" pitchFamily="2" charset="-122"/>
                </a:rPr>
                <a:t>state_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800" b="1">
                  <a:latin typeface="Arial" pitchFamily="34" charset="0"/>
                  <a:ea typeface="宋体" pitchFamily="2" charset="-122"/>
                </a:rPr>
                <a:t>transition</a:t>
              </a:r>
            </a:p>
          </p:txBody>
        </p:sp>
        <p:sp>
          <p:nvSpPr>
            <p:cNvPr id="7184" name="Text Box 55"/>
            <p:cNvSpPr txBox="1">
              <a:spLocks noChangeArrowheads="1"/>
            </p:cNvSpPr>
            <p:nvPr/>
          </p:nvSpPr>
          <p:spPr bwMode="auto">
            <a:xfrm>
              <a:off x="4702175" y="3429000"/>
              <a:ext cx="151447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itchFamily="34" charset="0"/>
                <a:buNone/>
              </a:pPr>
              <a:r>
                <a:rPr lang="en-US" altLang="zh-CN" sz="1800" b="1">
                  <a:latin typeface="Arial" pitchFamily="34" charset="0"/>
                  <a:ea typeface="宋体" pitchFamily="2" charset="-122"/>
                </a:rPr>
                <a:t>Control Unit</a:t>
              </a:r>
              <a:endParaRPr lang="en-US" altLang="zh-CN" sz="14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5" name="Oval 20" descr="50%"/>
            <p:cNvSpPr>
              <a:spLocks noChangeArrowheads="1"/>
            </p:cNvSpPr>
            <p:nvPr/>
          </p:nvSpPr>
          <p:spPr bwMode="auto">
            <a:xfrm>
              <a:off x="6303963" y="993775"/>
              <a:ext cx="2279650" cy="22050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GB" altLang="en-US" sz="16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6" name="Oval 21"/>
            <p:cNvSpPr>
              <a:spLocks noChangeArrowheads="1"/>
            </p:cNvSpPr>
            <p:nvPr/>
          </p:nvSpPr>
          <p:spPr bwMode="auto">
            <a:xfrm>
              <a:off x="6385346" y="1728788"/>
              <a:ext cx="1053306" cy="990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7" name="Oval 23"/>
            <p:cNvSpPr>
              <a:spLocks noChangeArrowheads="1"/>
            </p:cNvSpPr>
            <p:nvPr/>
          </p:nvSpPr>
          <p:spPr bwMode="auto">
            <a:xfrm>
              <a:off x="7410450" y="1382712"/>
              <a:ext cx="987425" cy="10366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8" name="Text Box 27"/>
            <p:cNvSpPr txBox="1">
              <a:spLocks noChangeArrowheads="1"/>
            </p:cNvSpPr>
            <p:nvPr/>
          </p:nvSpPr>
          <p:spPr bwMode="auto">
            <a:xfrm>
              <a:off x="7292975" y="1665010"/>
              <a:ext cx="1169988" cy="556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600" b="1">
                  <a:latin typeface="Arial" pitchFamily="34" charset="0"/>
                  <a:ea typeface="宋体" pitchFamily="2" charset="-122"/>
                </a:rPr>
                <a:t>ALU </a:t>
              </a:r>
              <a:r>
                <a:rPr lang="en-US" altLang="zh-CN" sz="1600" b="1">
                  <a:latin typeface="Arial" pitchFamily="34" charset="0"/>
                  <a:ea typeface="宋体" pitchFamily="2" charset="-122"/>
                </a:rPr>
                <a:t>&amp;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400" b="1">
                  <a:latin typeface="Arial" pitchFamily="34" charset="0"/>
                  <a:ea typeface="宋体" pitchFamily="2" charset="-122"/>
                </a:rPr>
                <a:t> ALU MUX</a:t>
              </a:r>
              <a:endParaRPr lang="en-GB" altLang="en-US" sz="14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89" name="Text Box 34"/>
            <p:cNvSpPr txBox="1">
              <a:spLocks noChangeArrowheads="1"/>
            </p:cNvSpPr>
            <p:nvPr/>
          </p:nvSpPr>
          <p:spPr bwMode="auto">
            <a:xfrm>
              <a:off x="6381961" y="2079625"/>
              <a:ext cx="11176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600" b="1">
                  <a:latin typeface="Arial" pitchFamily="34" charset="0"/>
                  <a:ea typeface="宋体" pitchFamily="2" charset="-122"/>
                </a:rPr>
                <a:t>Registers</a:t>
              </a:r>
            </a:p>
          </p:txBody>
        </p:sp>
        <p:sp>
          <p:nvSpPr>
            <p:cNvPr id="7190" name="Text Box 46"/>
            <p:cNvSpPr txBox="1">
              <a:spLocks noChangeArrowheads="1"/>
            </p:cNvSpPr>
            <p:nvPr/>
          </p:nvSpPr>
          <p:spPr bwMode="auto">
            <a:xfrm>
              <a:off x="6888163" y="1047750"/>
              <a:ext cx="1169987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 b="1">
                  <a:latin typeface="Arial" pitchFamily="34" charset="0"/>
                  <a:ea typeface="宋体" pitchFamily="2" charset="-122"/>
                </a:rPr>
                <a:t>Datapath</a:t>
              </a:r>
              <a:endParaRPr lang="en-US" altLang="zh-CN" sz="14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91" name="Line 45"/>
            <p:cNvSpPr>
              <a:spLocks noChangeShapeType="1"/>
            </p:cNvSpPr>
            <p:nvPr/>
          </p:nvSpPr>
          <p:spPr bwMode="auto">
            <a:xfrm>
              <a:off x="1466850" y="3159125"/>
              <a:ext cx="4095750" cy="134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" name="Line 45"/>
            <p:cNvSpPr>
              <a:spLocks noChangeShapeType="1"/>
            </p:cNvSpPr>
            <p:nvPr/>
          </p:nvSpPr>
          <p:spPr bwMode="auto">
            <a:xfrm>
              <a:off x="1331913" y="4059238"/>
              <a:ext cx="3105150" cy="1890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Oval 21"/>
            <p:cNvSpPr>
              <a:spLocks noChangeArrowheads="1"/>
            </p:cNvSpPr>
            <p:nvPr/>
          </p:nvSpPr>
          <p:spPr bwMode="auto">
            <a:xfrm>
              <a:off x="7292975" y="2427318"/>
              <a:ext cx="765175" cy="631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94" name="Text Box 27"/>
            <p:cNvSpPr txBox="1">
              <a:spLocks noChangeArrowheads="1"/>
            </p:cNvSpPr>
            <p:nvPr/>
          </p:nvSpPr>
          <p:spPr bwMode="auto">
            <a:xfrm>
              <a:off x="7433633" y="2603651"/>
              <a:ext cx="4667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600" b="1">
                  <a:latin typeface="Arial" pitchFamily="34" charset="0"/>
                  <a:ea typeface="宋体" pitchFamily="2" charset="-122"/>
                </a:rPr>
                <a:t>PC</a:t>
              </a:r>
            </a:p>
          </p:txBody>
        </p:sp>
        <p:sp>
          <p:nvSpPr>
            <p:cNvPr id="7195" name="Oval 40"/>
            <p:cNvSpPr>
              <a:spLocks noChangeArrowheads="1"/>
            </p:cNvSpPr>
            <p:nvPr/>
          </p:nvSpPr>
          <p:spPr bwMode="auto">
            <a:xfrm>
              <a:off x="4554538" y="5081588"/>
              <a:ext cx="1574800" cy="10255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196" name="矩形 1"/>
            <p:cNvSpPr>
              <a:spLocks noChangeArrowheads="1"/>
            </p:cNvSpPr>
            <p:nvPr/>
          </p:nvSpPr>
          <p:spPr bwMode="auto">
            <a:xfrm>
              <a:off x="5051425" y="5438775"/>
              <a:ext cx="4159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GB" altLang="en-US" sz="1800" b="1">
                  <a:latin typeface="Arial" pitchFamily="34" charset="0"/>
                  <a:ea typeface="宋体" pitchFamily="2" charset="-122"/>
                </a:rPr>
                <a:t>IR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标题 1"/>
          <p:cNvSpPr>
            <a:spLocks noGrp="1"/>
          </p:cNvSpPr>
          <p:nvPr>
            <p:ph type="title"/>
          </p:nvPr>
        </p:nvSpPr>
        <p:spPr>
          <a:xfrm>
            <a:off x="838200" y="22225"/>
            <a:ext cx="10515600" cy="1325563"/>
          </a:xfrm>
        </p:spPr>
        <p:txBody>
          <a:bodyPr/>
          <a:lstStyle/>
          <a:p>
            <a:r>
              <a:rPr lang="en-US" altLang="zh-CN" sz="5400" b="1" smtClean="0">
                <a:solidFill>
                  <a:srgbClr val="00B0F0"/>
                </a:solidFill>
              </a:rPr>
              <a:t>Top structure </a:t>
            </a:r>
            <a:r>
              <a:rPr lang="en-GB" altLang="en-US" sz="5400" b="1" smtClean="0">
                <a:solidFill>
                  <a:srgbClr val="00B0F0"/>
                </a:solidFill>
                <a:ea typeface="等线 Light" pitchFamily="2" charset="-122"/>
              </a:rPr>
              <a:t>of our CPU</a:t>
            </a:r>
            <a:endParaRPr lang="zh-CN" altLang="en-US" sz="5400" smtClean="0"/>
          </a:p>
        </p:txBody>
      </p:sp>
      <p:grpSp>
        <p:nvGrpSpPr>
          <p:cNvPr id="8196" name="组合 8"/>
          <p:cNvGrpSpPr>
            <a:grpSpLocks/>
          </p:cNvGrpSpPr>
          <p:nvPr/>
        </p:nvGrpSpPr>
        <p:grpSpPr bwMode="auto">
          <a:xfrm>
            <a:off x="2197100" y="1250950"/>
            <a:ext cx="7888288" cy="5270500"/>
            <a:chOff x="577489" y="993775"/>
            <a:chExt cx="8124114" cy="5270500"/>
          </a:xfrm>
        </p:grpSpPr>
        <p:sp>
          <p:nvSpPr>
            <p:cNvPr id="8197" name="TextBox 6"/>
            <p:cNvSpPr txBox="1">
              <a:spLocks noChangeArrowheads="1"/>
            </p:cNvSpPr>
            <p:nvPr/>
          </p:nvSpPr>
          <p:spPr bwMode="auto">
            <a:xfrm>
              <a:off x="2100760" y="1311275"/>
              <a:ext cx="1590178" cy="46889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solidFill>
                  <a:srgbClr val="00B0F0"/>
                </a:solidFill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itchFamily="34" charset="0"/>
                  <a:ea typeface="宋体" pitchFamily="2" charset="-122"/>
                </a:rPr>
                <a:t>Data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itchFamily="34" charset="0"/>
                  <a:ea typeface="宋体" pitchFamily="2" charset="-122"/>
                </a:rPr>
                <a:t>path</a:t>
              </a:r>
              <a:endParaRPr lang="zh-CN" altLang="en-US" sz="2400">
                <a:solidFill>
                  <a:srgbClr val="00B0F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198" name="TextBox 7"/>
            <p:cNvSpPr txBox="1">
              <a:spLocks noChangeArrowheads="1"/>
            </p:cNvSpPr>
            <p:nvPr/>
          </p:nvSpPr>
          <p:spPr bwMode="auto"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2400">
                <a:solidFill>
                  <a:srgbClr val="00B0F0"/>
                </a:solidFill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itchFamily="34" charset="0"/>
                  <a:ea typeface="宋体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itchFamily="34" charset="0"/>
                  <a:ea typeface="宋体" pitchFamily="2" charset="-122"/>
                </a:rPr>
                <a:t>Unit</a:t>
              </a:r>
              <a:endParaRPr lang="zh-CN" altLang="en-US" sz="2400">
                <a:solidFill>
                  <a:srgbClr val="00B0F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199" name="矩形 8"/>
            <p:cNvSpPr>
              <a:spLocks noChangeArrowheads="1"/>
            </p:cNvSpPr>
            <p:nvPr/>
          </p:nvSpPr>
          <p:spPr bwMode="auto">
            <a:xfrm>
              <a:off x="577489" y="993775"/>
              <a:ext cx="8124114" cy="52705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zh-CN" altLang="en-US" sz="1800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8200" name="左箭头 36"/>
            <p:cNvSpPr>
              <a:spLocks noChangeArrowheads="1"/>
            </p:cNvSpPr>
            <p:nvPr/>
          </p:nvSpPr>
          <p:spPr bwMode="auto"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ea typeface="宋体" pitchFamily="2" charset="-122"/>
                </a:rPr>
                <a:t>Regs control signals</a:t>
              </a:r>
              <a:endParaRPr lang="zh-CN" altLang="en-US" sz="1600" b="1">
                <a:ea typeface="宋体" pitchFamily="2" charset="-122"/>
              </a:endParaRPr>
            </a:p>
          </p:txBody>
        </p:sp>
        <p:sp>
          <p:nvSpPr>
            <p:cNvPr id="8201" name="左箭头 37"/>
            <p:cNvSpPr>
              <a:spLocks noChangeArrowheads="1"/>
            </p:cNvSpPr>
            <p:nvPr/>
          </p:nvSpPr>
          <p:spPr bwMode="auto">
            <a:xfrm>
              <a:off x="3659188" y="3006725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ea typeface="宋体" pitchFamily="2" charset="-122"/>
                </a:rPr>
                <a:t>ALU control signals</a:t>
              </a:r>
              <a:endParaRPr lang="zh-CN" altLang="en-US" sz="1600" b="1">
                <a:ea typeface="宋体" pitchFamily="2" charset="-122"/>
              </a:endParaRPr>
            </a:p>
          </p:txBody>
        </p:sp>
        <p:sp>
          <p:nvSpPr>
            <p:cNvPr id="8202" name="TextBox 52"/>
            <p:cNvSpPr txBox="1">
              <a:spLocks noChangeArrowheads="1"/>
            </p:cNvSpPr>
            <p:nvPr/>
          </p:nvSpPr>
          <p:spPr bwMode="auto">
            <a:xfrm>
              <a:off x="714432" y="1048544"/>
              <a:ext cx="9080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</a:rPr>
                <a:t>CPU</a:t>
              </a:r>
              <a:endParaRPr lang="zh-CN" altLang="en-US" sz="24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3" name="矩形 2"/>
            <p:cNvSpPr>
              <a:spLocks noChangeArrowheads="1"/>
            </p:cNvSpPr>
            <p:nvPr/>
          </p:nvSpPr>
          <p:spPr bwMode="auto">
            <a:xfrm>
              <a:off x="2646363" y="1944688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>
                  <a:latin typeface="Arial" pitchFamily="34" charset="0"/>
                  <a:ea typeface="宋体" pitchFamily="2" charset="-122"/>
                </a:rPr>
                <a:t>Reg group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4" name="矩形 22"/>
            <p:cNvSpPr>
              <a:spLocks noChangeArrowheads="1"/>
            </p:cNvSpPr>
            <p:nvPr/>
          </p:nvSpPr>
          <p:spPr bwMode="auto">
            <a:xfrm>
              <a:off x="2687638" y="3000375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>
                  <a:latin typeface="Arial" pitchFamily="34" charset="0"/>
                  <a:ea typeface="宋体" pitchFamily="2" charset="-122"/>
                </a:rPr>
                <a:t>Alu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5" name="矩形 23"/>
            <p:cNvSpPr>
              <a:spLocks noChangeArrowheads="1"/>
            </p:cNvSpPr>
            <p:nvPr/>
          </p:nvSpPr>
          <p:spPr bwMode="auto">
            <a:xfrm>
              <a:off x="2695575" y="3685381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>
                  <a:latin typeface="Arial" pitchFamily="34" charset="0"/>
                  <a:ea typeface="宋体" pitchFamily="2" charset="-122"/>
                </a:rPr>
                <a:t>PC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6" name="矩形 24"/>
            <p:cNvSpPr>
              <a:spLocks noChangeArrowheads="1"/>
            </p:cNvSpPr>
            <p:nvPr/>
          </p:nvSpPr>
          <p:spPr bwMode="auto">
            <a:xfrm>
              <a:off x="2350022" y="4370388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>
                  <a:latin typeface="Arial" pitchFamily="34" charset="0"/>
                  <a:ea typeface="宋体" pitchFamily="2" charset="-122"/>
                </a:rPr>
                <a:t>Alu_mux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7" name="矩形 25"/>
            <p:cNvSpPr>
              <a:spLocks noChangeArrowheads="1"/>
            </p:cNvSpPr>
            <p:nvPr/>
          </p:nvSpPr>
          <p:spPr bwMode="auto"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1800">
                <a:latin typeface="Arial" pitchFamily="34" charset="0"/>
                <a:ea typeface="宋体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800">
                  <a:latin typeface="Arial" pitchFamily="34" charset="0"/>
                  <a:ea typeface="宋体" pitchFamily="2" charset="-122"/>
                </a:rPr>
                <a:t>IR</a:t>
              </a:r>
              <a:endParaRPr lang="zh-CN" altLang="en-US" sz="1800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8" name="矩形 26"/>
            <p:cNvSpPr>
              <a:spLocks noChangeArrowheads="1"/>
            </p:cNvSpPr>
            <p:nvPr/>
          </p:nvSpPr>
          <p:spPr bwMode="auto"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</a:rPr>
                <a:t>State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</a:rPr>
                <a:t>transition</a:t>
              </a:r>
              <a:endParaRPr lang="zh-CN" altLang="en-US" sz="1600" b="1">
                <a:solidFill>
                  <a:srgbClr val="FF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09" name="左箭头 37"/>
            <p:cNvSpPr>
              <a:spLocks noChangeArrowheads="1"/>
            </p:cNvSpPr>
            <p:nvPr/>
          </p:nvSpPr>
          <p:spPr bwMode="auto">
            <a:xfrm>
              <a:off x="3681413" y="4222750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ea typeface="宋体" pitchFamily="2" charset="-122"/>
                </a:rPr>
                <a:t>PC control signal</a:t>
              </a:r>
              <a:endParaRPr lang="zh-CN" altLang="en-US" sz="1600" b="1">
                <a:ea typeface="宋体" pitchFamily="2" charset="-122"/>
              </a:endParaRPr>
            </a:p>
          </p:txBody>
        </p:sp>
        <p:sp>
          <p:nvSpPr>
            <p:cNvPr id="8210" name="文本框 3"/>
            <p:cNvSpPr txBox="1">
              <a:spLocks noChangeArrowheads="1"/>
            </p:cNvSpPr>
            <p:nvPr/>
          </p:nvSpPr>
          <p:spPr bwMode="auto">
            <a:xfrm>
              <a:off x="4193990" y="1648386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200" b="1">
                  <a:latin typeface="Arial" pitchFamily="34" charset="0"/>
                  <a:ea typeface="宋体" pitchFamily="2" charset="-122"/>
                </a:rPr>
                <a:t>En_group, Reg_en</a:t>
              </a:r>
              <a:endParaRPr lang="zh-CN" altLang="en-US" sz="1200" b="1">
                <a:latin typeface="Arial" pitchFamily="34" charset="0"/>
                <a:ea typeface="宋体" pitchFamily="2" charset="-122"/>
              </a:endParaRPr>
            </a:p>
          </p:txBody>
        </p:sp>
        <p:cxnSp>
          <p:nvCxnSpPr>
            <p:cNvPr id="8211" name="直接箭头连接符 5"/>
            <p:cNvCxnSpPr>
              <a:cxnSpLocks noChangeShapeType="1"/>
              <a:stCxn id="8207" idx="2"/>
              <a:endCxn id="8208" idx="0"/>
            </p:cNvCxnSpPr>
            <p:nvPr/>
          </p:nvCxnSpPr>
          <p:spPr bwMode="auto">
            <a:xfrm>
              <a:off x="6829501" y="2576793"/>
              <a:ext cx="23528" cy="1292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2" name="文本框 32"/>
            <p:cNvSpPr txBox="1">
              <a:spLocks noChangeArrowheads="1"/>
            </p:cNvSpPr>
            <p:nvPr/>
          </p:nvSpPr>
          <p:spPr bwMode="auto">
            <a:xfrm>
              <a:off x="6829499" y="3142784"/>
              <a:ext cx="8588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200" b="1">
                  <a:latin typeface="Arial" pitchFamily="34" charset="0"/>
                  <a:ea typeface="宋体" pitchFamily="2" charset="-122"/>
                </a:rPr>
                <a:t>Opcode</a:t>
              </a:r>
              <a:endParaRPr lang="zh-CN" altLang="en-US" sz="12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13" name="文本框 33"/>
            <p:cNvSpPr txBox="1">
              <a:spLocks noChangeArrowheads="1"/>
            </p:cNvSpPr>
            <p:nvPr/>
          </p:nvSpPr>
          <p:spPr bwMode="auto">
            <a:xfrm>
              <a:off x="4022725" y="2919412"/>
              <a:ext cx="185578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200" b="1">
                  <a:latin typeface="Arial" pitchFamily="34" charset="0"/>
                  <a:ea typeface="宋体" pitchFamily="2" charset="-122"/>
                </a:rPr>
                <a:t>Alu_in_sel  Alu_in_sel</a:t>
              </a:r>
              <a:endParaRPr lang="zh-CN" altLang="en-US" sz="12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14" name="文本框 34"/>
            <p:cNvSpPr txBox="1">
              <a:spLocks noChangeArrowheads="1"/>
            </p:cNvSpPr>
            <p:nvPr/>
          </p:nvSpPr>
          <p:spPr bwMode="auto">
            <a:xfrm>
              <a:off x="4189413" y="4169850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200" b="1">
                  <a:latin typeface="Arial" pitchFamily="34" charset="0"/>
                  <a:ea typeface="宋体" pitchFamily="2" charset="-122"/>
                </a:rPr>
                <a:t>En_pc  pc_ctrl</a:t>
              </a:r>
              <a:endParaRPr lang="zh-CN" altLang="en-US" sz="1200" b="1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8215" name="左箭头 37"/>
            <p:cNvSpPr>
              <a:spLocks noChangeArrowheads="1"/>
            </p:cNvSpPr>
            <p:nvPr/>
          </p:nvSpPr>
          <p:spPr bwMode="auto"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itchFamily="34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5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itchFamily="34" charset="0"/>
                <a:buChar char="•"/>
                <a:defRPr sz="1300">
                  <a:solidFill>
                    <a:schemeClr val="tx1"/>
                  </a:solidFill>
                  <a:latin typeface="Calibri" pitchFamily="34" charset="0"/>
                  <a:ea typeface="等线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itchFamily="34" charset="0"/>
                <a:buNone/>
              </a:pPr>
              <a:r>
                <a:rPr lang="en-US" altLang="zh-CN" sz="1600" b="1">
                  <a:ea typeface="宋体" pitchFamily="2" charset="-122"/>
                </a:rPr>
                <a:t>Other signals</a:t>
              </a:r>
              <a:endParaRPr lang="zh-CN" altLang="en-US" sz="1600" b="1"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" name="标题 1"/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smtClean="0">
                <a:solidFill>
                  <a:srgbClr val="00B0F0"/>
                </a:solidFill>
              </a:rPr>
              <a:t>Instruction Set</a:t>
            </a:r>
            <a:endParaRPr lang="zh-CN" altLang="en-US" sz="5400" smtClean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C303558E-1B56-4E17-B77B-A564B9A5D79B}"/>
              </a:ext>
            </a:extLst>
          </p:cNvPr>
          <p:cNvGraphicFramePr>
            <a:graphicFrameLocks noGrp="1"/>
          </p:cNvGraphicFramePr>
          <p:nvPr/>
        </p:nvGraphicFramePr>
        <p:xfrm>
          <a:off x="817563" y="969963"/>
          <a:ext cx="10979151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4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84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81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1102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4672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17256">
                  <a:extLst>
                    <a:ext uri="{9D8B030D-6E8A-4147-A177-3AD203B41FA5}">
                      <a16:colId xmlns:a16="http://schemas.microsoft.com/office/drawing/2014/main" xmlns="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Mov</a:t>
                      </a:r>
                      <a:r>
                        <a:rPr lang="en-US" altLang="zh-CN" sz="2000" dirty="0"/>
                        <a:t> R1 #02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R2 R1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R2&lt;=(R1)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0011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  <a:p>
                      <a:pPr algn="ctr"/>
                      <a:r>
                        <a:rPr lang="en-US" altLang="zh-CN" sz="2000" baseline="0" dirty="0">
                          <a:solidFill>
                            <a:srgbClr val="00B050"/>
                          </a:solidFill>
                        </a:rPr>
                        <a:t>Add R1 R2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R1&lt;=(R1)+(R2)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D5FE8A9-B7B3-4476-8B64-91B7792E5499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723900" y="15875"/>
            <a:ext cx="7886700" cy="1036638"/>
          </a:xfrm>
        </p:spPr>
        <p:txBody>
          <a:bodyPr/>
          <a:lstStyle/>
          <a:p>
            <a:r>
              <a:rPr lang="en-US" altLang="zh-CN" sz="5400" b="1" smtClean="0">
                <a:solidFill>
                  <a:srgbClr val="00B0F0"/>
                </a:solidFill>
              </a:rPr>
              <a:t>State transition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eaLnBrk="0" hangingPunct="0"/>
            <a:fld id="{E8B6BC89-772F-4989-A3BE-4283DA953C24}" type="slidenum">
              <a:rPr lang="zh-CN" altLang="en-US">
                <a:solidFill>
                  <a:srgbClr val="9D9D9D"/>
                </a:solidFill>
                <a:latin typeface="Arial" pitchFamily="34" charset="0"/>
                <a:ea typeface="宋体" pitchFamily="2" charset="-122"/>
              </a:rPr>
              <a:pPr eaLnBrk="0" hangingPunct="0"/>
              <a:t>7</a:t>
            </a:fld>
            <a:endParaRPr lang="zh-CN" altLang="en-US">
              <a:solidFill>
                <a:srgbClr val="9D9D9D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24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260350"/>
            <a:ext cx="7626350" cy="64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147638" y="447675"/>
            <a:ext cx="10791825" cy="487363"/>
          </a:xfrm>
        </p:spPr>
        <p:txBody>
          <a:bodyPr/>
          <a:lstStyle/>
          <a:p>
            <a:r>
              <a:rPr lang="en-US" altLang="zh-CN" sz="5400" b="1" smtClean="0">
                <a:solidFill>
                  <a:srgbClr val="00B0F0"/>
                </a:solidFill>
              </a:rPr>
              <a:t>Control signals &amp; state </a:t>
            </a:r>
            <a:r>
              <a:rPr lang="en-US" altLang="zh-CN" sz="5400" b="1" smtClean="0">
                <a:solidFill>
                  <a:srgbClr val="00B0F0"/>
                </a:solidFill>
                <a:sym typeface="+mn-ea"/>
              </a:rPr>
              <a:t>signal </a:t>
            </a:r>
            <a:r>
              <a:rPr lang="en-US" altLang="zh-CN" sz="5400" b="1" smtClean="0">
                <a:solidFill>
                  <a:srgbClr val="00B0F0"/>
                </a:solidFill>
              </a:rPr>
              <a:t>meaning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12291" name="文本框 2">
            <a:extLst>
              <a:ext uri="{FF2B5EF4-FFF2-40B4-BE49-F238E27FC236}">
                <a16:creationId xmlns:a16="http://schemas.microsoft.com/office/drawing/2014/main" xmlns="" id="{6C11CB5B-63EF-454F-B4D6-73D1A9839AE4}"/>
              </a:ext>
            </a:extLst>
          </p:cNvPr>
          <p:cNvSpPr txBox="1"/>
          <p:nvPr/>
        </p:nvSpPr>
        <p:spPr>
          <a:xfrm>
            <a:off x="1333500" y="935038"/>
            <a:ext cx="10858500" cy="563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ea typeface="Arial Unicode MS" panose="020B0604020202020204" pitchFamily="34" charset="-122"/>
                <a:cs typeface="+mj-cs"/>
                <a:sym typeface="+mn-ea"/>
              </a:rPr>
              <a:t>Control signals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</a:rPr>
              <a:t>Reg_group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   en_group:  enable signal, whether get datas from register group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    reg_en:  enable signal, means whether enable 4 registers to store datas to registers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Alu_mux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alu_in_sel:  think about in the previous class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Alu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    alu_in_func:  think about in the previous class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PC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   en_pc:  enable signal,  whether enable pc unite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   pc_ctrl:  mux signal, if pc_ctrl = 00 means pc_out &lt;= pc_out 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		              if pc_ctrl = 01 means pc_out &lt;= pc_out +1;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 		              if pc_ctrl = 10 means pc_out &lt;= offset;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ea typeface="Arial Unicode MS" panose="020B0604020202020204" pitchFamily="34" charset="-122"/>
                <a:cs typeface="+mj-cs"/>
                <a:sym typeface="+mn-ea"/>
              </a:rPr>
              <a:t>State signal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ea typeface="Arial Unicode MS" panose="020B0604020202020204" pitchFamily="34" charset="-122"/>
                <a:cs typeface="+mj-cs"/>
                <a:sym typeface="+mn-ea"/>
              </a:rPr>
              <a:t>                en_alu:  </a:t>
            </a: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enable signal, whether the datapath is completed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4">
            <a:extLst>
              <a:ext uri="{FF2B5EF4-FFF2-40B4-BE49-F238E27FC236}">
                <a16:creationId xmlns:a16="http://schemas.microsoft.com/office/drawing/2014/main" xmlns="" id="{83C9D34F-0EF0-4D6E-8A02-A3560286B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87325"/>
            <a:ext cx="4902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Controller</a:t>
            </a:r>
            <a:r>
              <a:rPr lang="zh-CN" altLang="en-US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 Design</a:t>
            </a:r>
          </a:p>
        </p:txBody>
      </p:sp>
      <p:pic>
        <p:nvPicPr>
          <p:cNvPr id="12291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1011238"/>
            <a:ext cx="6548437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102ADCA8-FBBB-40B4-8FF4-5C7B0AF93E5B}"/>
              </a:ext>
            </a:extLst>
          </p:cNvPr>
          <p:cNvCxnSpPr/>
          <p:nvPr/>
        </p:nvCxnSpPr>
        <p:spPr>
          <a:xfrm flipH="1">
            <a:off x="2290763" y="1243013"/>
            <a:ext cx="10112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8553AF16-7BAB-4E8A-9C81-53A48A52EC5E}"/>
              </a:ext>
            </a:extLst>
          </p:cNvPr>
          <p:cNvCxnSpPr/>
          <p:nvPr/>
        </p:nvCxnSpPr>
        <p:spPr>
          <a:xfrm>
            <a:off x="2284413" y="1243013"/>
            <a:ext cx="0" cy="2762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xmlns="" id="{8158D2A0-5D63-49A5-8D91-CC9048BCCCF8}"/>
              </a:ext>
            </a:extLst>
          </p:cNvPr>
          <p:cNvCxnSpPr/>
          <p:nvPr/>
        </p:nvCxnSpPr>
        <p:spPr>
          <a:xfrm>
            <a:off x="2282825" y="4011613"/>
            <a:ext cx="111125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295" name="图片 10" descr="control_unit_v2 (1)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463" y="1774825"/>
            <a:ext cx="7980362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 smtClean="0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 smtClean="0">
                <a:solidFill>
                  <a:srgbClr val="FF0000"/>
                </a:solidFill>
              </a:rPr>
              <a:t>Project</a:t>
            </a:r>
            <a:endParaRPr lang="zh-CN" altLang="en-US" sz="4000" b="1" smtClean="0">
              <a:solidFill>
                <a:srgbClr val="00B0F0"/>
              </a:solidFill>
            </a:endParaRPr>
          </a:p>
        </p:txBody>
      </p:sp>
      <p:sp>
        <p:nvSpPr>
          <p:cNvPr id="13315" name="文本框 2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r>
              <a:rPr lang="en-US" altLang="zh-CN" sz="4400"/>
              <a:t>Follow the steps of lab1.ppt to create New Hardware Project </a:t>
            </a:r>
            <a:endParaRPr lang="zh-CN" altLang="en-US" sz="4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  <p:pic>
        <p:nvPicPr>
          <p:cNvPr id="1433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3008313"/>
            <a:ext cx="8412162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文本框 10"/>
          <p:cNvSpPr txBox="1">
            <a:spLocks noChangeArrowheads="1"/>
          </p:cNvSpPr>
          <p:nvPr/>
        </p:nvSpPr>
        <p:spPr bwMode="auto">
          <a:xfrm>
            <a:off x="4346575" y="1584325"/>
            <a:ext cx="73945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r>
              <a:rPr lang="en-US" altLang="zh-CN" sz="4400"/>
              <a:t>Add files in the code folder as following steps.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4"/>
          <p:cNvSpPr>
            <a:spLocks noChangeArrowheads="1"/>
          </p:cNvSpPr>
          <p:nvPr/>
        </p:nvSpPr>
        <p:spPr bwMode="auto">
          <a:xfrm>
            <a:off x="6108700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3CAF2707-07CD-4A81-AE25-0165A25D1DD4}"/>
              </a:ext>
            </a:extLst>
          </p:cNvPr>
          <p:cNvSpPr/>
          <p:nvPr/>
        </p:nvSpPr>
        <p:spPr bwMode="auto">
          <a:xfrm>
            <a:off x="6491288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365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613" y="0"/>
            <a:ext cx="4370387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88" y="0"/>
            <a:ext cx="4619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CBECC740-3617-4C17-96F3-71FA8CAFD862}"/>
              </a:ext>
            </a:extLst>
          </p:cNvPr>
          <p:cNvSpPr/>
          <p:nvPr/>
        </p:nvSpPr>
        <p:spPr>
          <a:xfrm>
            <a:off x="9036050" y="2439988"/>
            <a:ext cx="3017838" cy="441801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390" name="文本框 9"/>
          <p:cNvSpPr txBox="1">
            <a:spLocks noChangeArrowheads="1"/>
          </p:cNvSpPr>
          <p:nvPr/>
        </p:nvSpPr>
        <p:spPr bwMode="auto">
          <a:xfrm>
            <a:off x="5551488" y="2374900"/>
            <a:ext cx="3425825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Refer to the next page to complete the state_transition  module.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ED184C5-6051-4C10-BE16-1EB26D47BE87}"/>
              </a:ext>
            </a:extLst>
          </p:cNvPr>
          <p:cNvSpPr/>
          <p:nvPr/>
        </p:nvSpPr>
        <p:spPr>
          <a:xfrm>
            <a:off x="4054475" y="3595688"/>
            <a:ext cx="2994025" cy="20399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7"/>
          <p:cNvGrpSpPr>
            <a:grpSpLocks/>
          </p:cNvGrpSpPr>
          <p:nvPr/>
        </p:nvGrpSpPr>
        <p:grpSpPr bwMode="auto">
          <a:xfrm>
            <a:off x="2743200" y="1811338"/>
            <a:ext cx="9448800" cy="3781425"/>
            <a:chOff x="2373313" y="3225522"/>
            <a:chExt cx="9144000" cy="2879725"/>
          </a:xfrm>
        </p:grpSpPr>
        <p:grpSp>
          <p:nvGrpSpPr>
            <p:cNvPr id="17412" name="组合 6"/>
            <p:cNvGrpSpPr>
              <a:grpSpLocks/>
            </p:cNvGrpSpPr>
            <p:nvPr/>
          </p:nvGrpSpPr>
          <p:grpSpPr bwMode="auto">
            <a:xfrm>
              <a:off x="2373313" y="3225522"/>
              <a:ext cx="9144000" cy="2879725"/>
              <a:chOff x="2117725" y="4073941"/>
              <a:chExt cx="9144000" cy="2879725"/>
            </a:xfrm>
          </p:grpSpPr>
          <p:pic>
            <p:nvPicPr>
              <p:cNvPr id="17421" name="图片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17725" y="4073941"/>
                <a:ext cx="9144000" cy="287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xmlns="" id="{450F2D34-212D-4615-A02F-3B9F261BFDA0}"/>
                  </a:ext>
                </a:extLst>
              </p:cNvPr>
              <p:cNvSpPr/>
              <p:nvPr/>
            </p:nvSpPr>
            <p:spPr>
              <a:xfrm>
                <a:off x="4270068" y="4234731"/>
                <a:ext cx="600689" cy="3215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xmlns="" id="{B983F1BB-14C2-44B2-BA79-614909637D32}"/>
                  </a:ext>
                </a:extLst>
              </p:cNvPr>
              <p:cNvSpPr/>
              <p:nvPr/>
            </p:nvSpPr>
            <p:spPr>
              <a:xfrm>
                <a:off x="9203096" y="4154940"/>
                <a:ext cx="1229032" cy="4013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xmlns="" id="{3D64F97B-9E33-4317-8336-BE5D6F5E47FF}"/>
                  </a:ext>
                </a:extLst>
              </p:cNvPr>
              <p:cNvSpPr/>
              <p:nvPr/>
            </p:nvSpPr>
            <p:spPr>
              <a:xfrm>
                <a:off x="5580523" y="4082403"/>
                <a:ext cx="1109202" cy="3058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pic>
          <p:nvPicPr>
            <p:cNvPr id="17413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68" b="2824"/>
            <a:stretch>
              <a:fillRect/>
            </a:stretch>
          </p:blipFill>
          <p:spPr bwMode="auto">
            <a:xfrm>
              <a:off x="9305437" y="4877914"/>
              <a:ext cx="2211876" cy="117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4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097" y="4852988"/>
              <a:ext cx="1543892" cy="1147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5" name="图片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3160" y="5019397"/>
              <a:ext cx="1504950" cy="1085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6" name="图片 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652" y="4879181"/>
              <a:ext cx="151447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图片 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9742" y="4907756"/>
              <a:ext cx="14382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xmlns="" id="{84903CFB-AA78-405D-AE4A-F15BD7A14D1A}"/>
                </a:ext>
              </a:extLst>
            </p:cNvPr>
            <p:cNvSpPr txBox="1"/>
            <p:nvPr/>
          </p:nvSpPr>
          <p:spPr>
            <a:xfrm>
              <a:off x="4504148" y="3515671"/>
              <a:ext cx="714375" cy="338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en_in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8E75FBD5-A3D5-4EFF-9DB6-413042A6F98D}"/>
                </a:ext>
              </a:extLst>
            </p:cNvPr>
            <p:cNvSpPr txBox="1"/>
            <p:nvPr/>
          </p:nvSpPr>
          <p:spPr>
            <a:xfrm>
              <a:off x="6166414" y="3521715"/>
              <a:ext cx="619125" cy="338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en1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E99036AE-94F6-4311-A9A3-F6929E2782D1}"/>
                </a:ext>
              </a:extLst>
            </p:cNvPr>
            <p:cNvSpPr txBox="1"/>
            <p:nvPr/>
          </p:nvSpPr>
          <p:spPr>
            <a:xfrm>
              <a:off x="9762869" y="3507208"/>
              <a:ext cx="620661" cy="3372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zh-CN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>
                <a:defRPr/>
              </a:pPr>
              <a:r>
                <a:rPr lang="en-US" altLang="zh-CN" sz="1600" dirty="0"/>
                <a:t>en2</a:t>
              </a:r>
            </a:p>
          </p:txBody>
        </p:sp>
      </p:grpSp>
      <p:sp>
        <p:nvSpPr>
          <p:cNvPr id="17411" name="标题 1"/>
          <p:cNvSpPr txBox="1">
            <a:spLocks noChangeArrowheads="1"/>
          </p:cNvSpPr>
          <p:nvPr/>
        </p:nvSpPr>
        <p:spPr bwMode="auto">
          <a:xfrm>
            <a:off x="230188" y="1916113"/>
            <a:ext cx="22987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and get the circuit 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  <p:sp>
        <p:nvSpPr>
          <p:cNvPr id="18435" name="文本框 7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r>
              <a:rPr lang="en-US" altLang="zh-CN" sz="4400"/>
              <a:t>Follow the steps of lab1.ppt to do Synthesis and get the circuit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675" y="0"/>
            <a:ext cx="6934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59" name="组合 2"/>
          <p:cNvGrpSpPr>
            <a:grpSpLocks/>
          </p:cNvGrpSpPr>
          <p:nvPr/>
        </p:nvGrpSpPr>
        <p:grpSpPr bwMode="auto">
          <a:xfrm>
            <a:off x="6310313" y="1289050"/>
            <a:ext cx="5813425" cy="5568950"/>
            <a:chOff x="6714117" y="1279678"/>
            <a:chExt cx="5278854" cy="557039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0F930E95-CBD0-447C-A4CA-825E38CCE23D}"/>
                </a:ext>
              </a:extLst>
            </p:cNvPr>
            <p:cNvSpPr/>
            <p:nvPr/>
          </p:nvSpPr>
          <p:spPr bwMode="auto">
            <a:xfrm>
              <a:off x="6714117" y="1279678"/>
              <a:ext cx="2286254" cy="129256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57076FCB-28CB-4B57-9773-D3955061FF6E}"/>
                </a:ext>
              </a:extLst>
            </p:cNvPr>
            <p:cNvSpPr/>
            <p:nvPr/>
          </p:nvSpPr>
          <p:spPr bwMode="auto">
            <a:xfrm>
              <a:off x="8774052" y="3420184"/>
              <a:ext cx="3218919" cy="15704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Copy  the  content in tb_state_transition.txt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B442CBD9-F041-45BE-AAD2-E5061DAA9673}"/>
                </a:ext>
              </a:extLst>
            </p:cNvPr>
            <p:cNvSpPr/>
            <p:nvPr/>
          </p:nvSpPr>
          <p:spPr bwMode="auto">
            <a:xfrm>
              <a:off x="6714117" y="5573393"/>
              <a:ext cx="2825383" cy="127668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9460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 txBox="1">
            <a:spLocks noChangeArrowheads="1"/>
          </p:cNvSpPr>
          <p:nvPr/>
        </p:nvSpPr>
        <p:spPr bwMode="auto">
          <a:xfrm>
            <a:off x="0" y="200818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  <p:pic>
        <p:nvPicPr>
          <p:cNvPr id="2048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863" y="0"/>
            <a:ext cx="8466137" cy="68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86003FDB-60A3-4839-8F0D-390045BC320A}"/>
              </a:ext>
            </a:extLst>
          </p:cNvPr>
          <p:cNvSpPr/>
          <p:nvPr/>
        </p:nvSpPr>
        <p:spPr bwMode="auto">
          <a:xfrm>
            <a:off x="8308975" y="3940175"/>
            <a:ext cx="1455738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8DAB5358-03EB-4673-B3B7-64698F28E597}"/>
              </a:ext>
            </a:extLst>
          </p:cNvPr>
          <p:cNvSpPr/>
          <p:nvPr/>
        </p:nvSpPr>
        <p:spPr bwMode="auto">
          <a:xfrm>
            <a:off x="4389438" y="660400"/>
            <a:ext cx="3287712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7F5C805B-903D-4013-9115-08AF42737D24}"/>
              </a:ext>
            </a:extLst>
          </p:cNvPr>
          <p:cNvSpPr txBox="1"/>
          <p:nvPr/>
        </p:nvSpPr>
        <p:spPr>
          <a:xfrm>
            <a:off x="5172075" y="198438"/>
            <a:ext cx="1922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BDDF054B-EBD8-4FD9-8EE1-8A21273CC76B}"/>
              </a:ext>
            </a:extLst>
          </p:cNvPr>
          <p:cNvSpPr txBox="1"/>
          <p:nvPr/>
        </p:nvSpPr>
        <p:spPr>
          <a:xfrm>
            <a:off x="9934575" y="3827463"/>
            <a:ext cx="10652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 txBox="1">
            <a:spLocks noChangeArrowheads="1"/>
          </p:cNvSpPr>
          <p:nvPr/>
        </p:nvSpPr>
        <p:spPr bwMode="auto">
          <a:xfrm>
            <a:off x="0" y="200818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itchFamily="34" charset="0"/>
                <a:ea typeface="等线 Light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itchFamily="34" charset="0"/>
                <a:ea typeface="等线 Light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itchFamily="34" charset="0"/>
              <a:ea typeface="等线 Light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E893B687-D090-4552-88CF-09F94A14E0DE}"/>
              </a:ext>
            </a:extLst>
          </p:cNvPr>
          <p:cNvSpPr/>
          <p:nvPr/>
        </p:nvSpPr>
        <p:spPr>
          <a:xfrm>
            <a:off x="4159250" y="646113"/>
            <a:ext cx="7231063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Run simulation and 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150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1476375"/>
            <a:ext cx="9258300" cy="462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 smtClean="0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 smtClean="0">
              <a:solidFill>
                <a:srgbClr val="00B0F0"/>
              </a:solidFill>
            </a:endParaRPr>
          </a:p>
        </p:txBody>
      </p:sp>
      <p:sp>
        <p:nvSpPr>
          <p:cNvPr id="22531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3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xmlns="" id="{C71B08AD-1063-4637-9F51-3AE5841DC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artus13.1 安装说明.pptx" id="{7DAF6241-A34C-48AD-B255-5E0B72393853}" vid="{554FF0A6-F414-48E1-910B-50D72A6927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2458</TotalTime>
  <Words>547</Words>
  <Application>Microsoft Office PowerPoint</Application>
  <PresentationFormat>自定义</PresentationFormat>
  <Paragraphs>188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Calibri</vt:lpstr>
      <vt:lpstr>等线</vt:lpstr>
      <vt:lpstr>Arial</vt:lpstr>
      <vt:lpstr>Calibri Light</vt:lpstr>
      <vt:lpstr>等线 Light</vt:lpstr>
      <vt:lpstr>Times New Roman</vt:lpstr>
      <vt:lpstr>+mn-ea</vt:lpstr>
      <vt:lpstr>宋体</vt:lpstr>
      <vt:lpstr>Wingdings</vt:lpstr>
      <vt:lpstr>Arial Unicode MS</vt:lpstr>
      <vt:lpstr>模板</vt:lpstr>
      <vt:lpstr>Digital Logic Design and Application</vt:lpstr>
      <vt:lpstr>Requirements</vt:lpstr>
      <vt:lpstr>Content</vt:lpstr>
      <vt:lpstr>CPU Organization</vt:lpstr>
      <vt:lpstr>Top structure of our CPU</vt:lpstr>
      <vt:lpstr>Instruction Set</vt:lpstr>
      <vt:lpstr>State transition</vt:lpstr>
      <vt:lpstr>Control signals &amp; state signal meaning</vt:lpstr>
      <vt:lpstr>PowerPoint 演示文稿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Digital Logic Design and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315</cp:revision>
  <dcterms:created xsi:type="dcterms:W3CDTF">2017-04-08T01:53:17Z</dcterms:created>
  <dcterms:modified xsi:type="dcterms:W3CDTF">2022-09-08T14:35:55Z</dcterms:modified>
</cp:coreProperties>
</file>